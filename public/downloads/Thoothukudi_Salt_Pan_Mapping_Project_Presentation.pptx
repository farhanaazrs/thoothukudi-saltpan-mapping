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respected guide Dr. Jenila Vincent and faculty members. Today we present our project: AI-Driven Salt Pan Mapping Using Multispectral Remote Sensing and GIS in Thoothukudi District, Tamil Nadu. Presented by Raafid Afraaz G. and Farhanaaz R S from the School of Computer Science and Engineering (SCORE), Vellore Institute of Technology. This project combines Copernicus Sentinel-2 Level-2A multispectral satellite imagery, ESA WorldCover 2021 land cover reference data, and a rigorous 7-model machine learning benchmark to produce an authoritative, vector-delineated salt pan inventory and an interactive WebGL geospatial intelligence platform.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outlines the end-to-end framework of our project. First, we identify the domain challenge: Thoothukudi is India's second largest salt producing district, yet salt pans are dynamic systems whose reflectance changes drastically across evaporation cycles. Second, we ingest Sentinel-2 Level-2A imagery, compute 16 multispectral indices, and benchmark 7 machine learning models. Third, our production Random Forest model classifies all 90 million pixels across the district, which we then sieve and clip strictly to Thoothukudi's administrative boundary, yielding 2,071 verified parcels and 1,264.52 ha.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3, we emphasize why salt pan mapping is a difficult scientific problem. Unlike static agricultural crops or urban buildings, salt pans undergo a continuous biochemical and physical transformation. In the early phase, seawater is pumped into reservoirs, spectrally mimicking coastal lagoons. In the late crystallization phase, salt precipitating on pan bottoms creates intense specular reflectance. Furthermore, earthen bunds cause mixed-pixel issues at 10m and 20m Sentinel-2 resolutions.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addresses the scientific and practical significance. First, land-use administration: Thoothukudi has extensive coastal salterns leased from government and private bodies. Automated mapping provides transparent spatial baselines. Second, hydrological monitoring: high-salinity brine can lead to groundwater contamination if salterns expand into agricultural soils. Third, remote sensing automation: by using Sentinel-2 MSI data, our pipeline is reproducible, open-access, and easily updateable without commercial satellite costs.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introduces our study area: Thoothukudi District. The district sits on the southeast coast of Tamil Nadu facing the Gulf of Mannar. Geomorphologically, it consists of broad, flat coastal plains with impermeable clay and saline soils, high sunshine hours, and low annual rainfall. These environmental factors create prime conditions for solar marine salt pans. Our analysis enforces the official Survey of India administrative boundary, ensuring all calculations are strictly constrained to Thoothukudi.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summarizes our five primary project objectives. Objective 1: Multi-tile Sentinel-2 acquisition and CRS alignment. Objective 2: Extraction of 16 spectral features and physical index ratios. Objective 3: Benchmarking 7 distinct machine learning algorithms under class-imbalanced, spatial holdout constraints. Objective 4: Production raster prediction and morphological sieve post-processing. Objective 5: Deployment of a full-featured web GIS analytics dashboard.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details our satellite data inputs. We utilize 3 multi-temporal Sentinel-2 MSI Level-2A scenes acquired in August and September 2026. Level-2A provides bottom-of-atmosphere surface reflectance with geometric and atmospheric corrections already applied. Importantly, we clarify the role of ESA WorldCover 2021: it is used for permanent water exclusion (Class 80) and contextual analysis, not as an automatic ground-truth label for salt pans.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illustrates the spectral configuration of Sentinel-2 MSI. We selectively ingest 6 key spectral channels: Blue (B02), Green (B03), Red (B04), NIR (B08), SWIR-1 (B11), and SWIR-2 (B12). B02 and B03 capture underwater sediment scattering in brine reservoirs. B08 near-infrared provides sharp contrast at land-water edges due to total water absorption. B11 and B12 shortwave infrared are critical for evaporite minerals: wet mudflats strongly absorb SWIR, whereas dry NaCl salt crusts exhibit high reflectance.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outlines the GIS data preparation workflow. A critical engineering requirement was standardizing multiple Sentinel-2 tiles to a unified coordinate reference system: UTM Zone 43N (EPSG:32643). We resampled the 10m VNIR bands to match the 20m SWIR resolution, resulting in a cohesive district raster grid of 8,491 by 10,617 pixels. Our audit confirms 100% pixel conservation: exactly 52.8 million valid terrestrial pixels and 37.3 million NoData marine pixels.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details the spectral feature engineering step. In addition to raw reflectance, we compute 5 foundational physical indices: NDVI isolates vegetated bunds; MNDWI highlights water-filled condenser pans; NDMI tracks surface moisture; and NDBI separates dry crusts from urban built-up areas. We also engineer SWIR ratios (B12/B11) and Blue/SWIR ratios (B02/B11) to capture the diagnostic absorption features of halite and gypsum.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examines our training data. The training set contains 8,426 polygon samples extracted from `salt_train_32643.gpkg` (501 salt pan polygons) and `nonsalt_train_32643.gpkg` (7,925 non-salt polygons). This reflects an extreme real-world class imbalance of 15.82 to 1. Without balancing techniques, machine learning models would achieve over 94% accuracy simply by predicting non-salt everywhere. Therefore, balanced class weighting was strictly enforced across all tree and kernel models.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presents our complete end-to-end flowchart. The pipeline is divided into three distinct operational tiers: Tier 1: Data ingestion, atmospheric correction, CRS harmonization, and feature extraction. Tier 2: Machine learning model comparison across 7 model families using a 20% spatial block holdout. Tier 3: Production district-scale raster prediction using Random Forest, morphological sieve filtering, vectorization, and web dashboard publishing.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details our candidate detection and spatial refinement strategy. Raw pixel classification produces isolated speckles along sandy shorelines and agricultural borders. To ensure cartographic quality, we apply a two-stage sieve: First, a morphological raster sieve that eliminates pixel clumps under 1,000 square meters. Second, vector polygonization with an explicit MMU filter and strict administrative boundary clipping.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introduces the 7 machine learning model families evaluated in our benchmark. We tested parametric linear models (Logistic Regression), quadratic generative models (QDA), non-linear kernel methods (SVM RBF), and tree ensemble architectures (Random Forest, Extra Trees, Gradient Boosting, and XGBoost). This diverse suite allowed us to evaluate how different hypothesis classes handle high-dimensional spectral features under severe class imbalance.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addresses our experimental design and validation strategy. To prevent spatial autocorrelation leakage, we divided the district into a 5x5 spatial block grid. Our independent audit identified an important methodological caveat: because salt pans are strictly coastal, initial inland holdout blocks had zero positive samples. The training script backfilled 5 salt pan polygons to make evaluation mathematically possible. We transparently disclose that this is a polygon-grouped holdout rather than an entirely disjoint regional tile partition.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explains our metric selection. Under 15.82 to 1 class imbalance, overall accuracy is a misleading metric. A dummy classifier that predicts non-salt for every single pixel achieves 97.57% accuracy on this holdout. Therefore, we prioritize Salt-Pan Precision, Salt-Pan Recall, and the harmonic mean F1-Score as our primary benchmark selection criteria.</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showcases the core benchmark results verified from `model_comparison.csv`. SVM with RBF kernel emerges as the clear winner with an F1-score of 0.8889, achieving 100% precision and 80% recall. Random Forest and Extra Trees both achieve 0.7500 F1. Notice that while tree models maintain perfect precision (0 false alarms), they miss 2 of the 5 salt pan holdout polygons. SVM successfully detects 4 out of 5 salt pans while maintaining 0 false positives.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breaks down our winning benchmark model: SVM with RBF kernel. The 2x2 confusion matrix shows: 201 True Negatives, 0 False Positives, 1 False Negative, and 4 True Positives. This yields 100% precision, 80% recall, and an F1-score of 0.8889. However, as ethical researchers, we highlight that this holdout contains only 5 positive salt pan polygons. While mathematically verified, these metrics should not be treated as a guarantee of district-wide performance without external ground truth.</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clarifies an important distinction between our benchmark winner and our production inference model. While SVM won the holdout benchmark, evaluating an RBF kernel with 1,152 support vectors across 90 million pixels would require enormous memory and hours of compute. Random Forest with 300 trees and balanced weights was deployed for the production raster inference in `predict_district.py`. It provides fast, windowed multi-core execution across 99 blocks, outputting both continuous probability GeoTIFFs and binary classification rasters.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presents our real cartographic outputs. On the left is the high-resolution cartographic mapathon presentation map illustrating the saltern complexes around Thoothukudi city, Arasadi, and Veppalodai. On the right is the digital GIS inventory strictly clipped to the Thoothukudi administrative boundary. Notice the intense concentration along the Gulf of Mannar coastline, directly aligning with tidal seawater intake channels and crystallization pans.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provides a complete mathematical reconciliation of our area metrics. Raw pixel classification yielded 1,873.20 ha. Applying the 1,000 m² morphological sieve filter removed 97.12 ha of spatial noise, reducing the cleaned raster to 1,776.08 ha. Polygonization with vector MMU filtering removed sub-resolution slivers, leaving 1,631.96 ha across 2,698 polygons. Finally, enforcing the official Thoothukudi district boundary removed 627 polygons (367.44 ha) that lay in adjacent Ramanathapuram and Tirunelveli districts, establishing our authoritative district inventory of 2,071 parcels and 1,264.52 ha.</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showcases our interactive geospatial web application: Thoothukudi Salt Pan Intelligence. Built using React 18, TypeScript, and MapLibre GL JS, the platform hosts 5 operational modules: Overview map with real-time parcel inspection; Salt Pan Explorer with search, filtering, and CSV download; Model Lab with interactive confusion matrices and feature importances; Validation &amp; Comparison with dual-layer reference maps; and Area Analytics detailing coastal proximity bands and land cover correspondence.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23, we provide an honest, critical scientific appraisal of our limitations. First, we make no false claims of independent external field validation; all evaluation is based on reference polygons. Second, because the holdout contained only 5 positive salt pans, statistical generalization must be treated with caution. Third, earthen bunds narrower than the 20m pixel grid introduce mixed pixels. Disclosing these limitations demonstrates academic integrity and sets the foundation for future field validation.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synthesizes our conclusions and outlines future work. Our verified achievements include a complete multispectral pipeline, an authoritative inventory of 2,071 parcels (1,264.52 ha), a 7-model machine learning benchmark, and an interactive web GIS dashboard. For future extensions, we propose integrating Sentinel-1 SAR data to resolve cloud occlusion, conducting field GPS validation campaigns, and exploring deep learning architectures like U-Net for sub-pixel bund extraction.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Dr. Jenila Vincent and respected faculty members for your valuable time and guidance. We are now open for questions, technical discussion, and suggestions on our methodology, machine-learning benchmark, and interactive geospatial dashboard.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731520"/>
            <a:ext cx="6217920" cy="53949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005840"/>
            <a:ext cx="5669280" cy="4846320"/>
          </a:xfrm>
          <a:prstGeom prst="rect">
            <a:avLst/>
          </a:prstGeom>
          <a:noFill/>
        </p:spPr>
        <p:txBody>
          <a:bodyPr wrap="square">
            <a:spAutoFit/>
          </a:bodyPr>
          <a:lstStyle/>
          <a:p>
            <a:pPr>
              <a:spcAft>
                <a:spcPts val="1400"/>
              </a:spcAft>
              <a:defRPr sz="1100" b="1">
                <a:solidFill>
                  <a:srgbClr val="F2C94C"/>
                </a:solidFill>
              </a:defRPr>
            </a:pPr>
            <a:r>
              <a:t>VELLORE INSTITUTE OF TECHNOLOGY • SCORE</a:t>
            </a:r>
          </a:p>
          <a:p>
            <a:pPr>
              <a:spcAft>
                <a:spcPts val="1200"/>
              </a:spcAft>
              <a:defRPr sz="2400" b="1">
                <a:solidFill>
                  <a:srgbClr val="FFFFFF"/>
                </a:solidFill>
              </a:defRPr>
            </a:pPr>
            <a:r>
              <a:t>AI-Driven Salt Pan Mapping Using Multispectral Remote Sensing and GIS</a:t>
            </a:r>
          </a:p>
          <a:p>
            <a:pPr>
              <a:spcAft>
                <a:spcPts val="2000"/>
              </a:spcAft>
              <a:defRPr sz="1250">
                <a:solidFill>
                  <a:srgbClr val="56B4E9"/>
                </a:solidFill>
              </a:defRPr>
            </a:pPr>
            <a:r>
              <a:t>District-Scale Mapping, Multispectral Index Extraction &amp; Machine-Learning Benchmark</a:t>
            </a:r>
          </a:p>
          <a:p>
            <a:pPr>
              <a:spcAft>
                <a:spcPts val="600"/>
              </a:spcAft>
              <a:defRPr sz="1000" b="1">
                <a:solidFill>
                  <a:srgbClr val="94A3B8"/>
                </a:solidFill>
              </a:defRPr>
            </a:pPr>
            <a:r>
              <a:t>PROJECT METADATA &amp; TEAM:</a:t>
            </a:r>
          </a:p>
          <a:p>
            <a:pPr>
              <a:spcAft>
                <a:spcPts val="400"/>
              </a:spcAft>
              <a:defRPr sz="1000">
                <a:solidFill>
                  <a:srgbClr val="E2E8F0"/>
                </a:solidFill>
              </a:defRPr>
            </a:pPr>
            <a:r>
              <a:t>•  Study Area: Thoothukudi (Tuticorin) District, Tamil Nadu, India</a:t>
            </a:r>
          </a:p>
          <a:p>
            <a:pPr>
              <a:spcAft>
                <a:spcPts val="400"/>
              </a:spcAft>
              <a:defRPr sz="1000">
                <a:solidFill>
                  <a:srgbClr val="E2E8F0"/>
                </a:solidFill>
              </a:defRPr>
            </a:pPr>
            <a:r>
              <a:t>•  Project Guide: Dr. Jenila Vincent | School of Computer Science and Engineering</a:t>
            </a:r>
          </a:p>
          <a:p>
            <a:pPr>
              <a:spcAft>
                <a:spcPts val="400"/>
              </a:spcAft>
              <a:defRPr sz="1000">
                <a:solidFill>
                  <a:srgbClr val="E2E8F0"/>
                </a:solidFill>
              </a:defRPr>
            </a:pPr>
            <a:r>
              <a:t>•  Student: Raafid Afraaz G. | Team Member: Farhanaaz R S</a:t>
            </a:r>
          </a:p>
          <a:p>
            <a:pPr>
              <a:spcAft>
                <a:spcPts val="400"/>
              </a:spcAft>
              <a:defRPr sz="1000">
                <a:solidFill>
                  <a:srgbClr val="E2E8F0"/>
                </a:solidFill>
              </a:defRPr>
            </a:pPr>
            <a:r>
              <a:t>•  Sensors: Copernicus Sentinel-2 MSI Level-2A &amp; ESA WorldCover 2021</a:t>
            </a:r>
          </a:p>
          <a:p>
            <a:pPr>
              <a:spcAft>
                <a:spcPts val="400"/>
              </a:spcAft>
              <a:defRPr sz="1000">
                <a:solidFill>
                  <a:srgbClr val="E2E8F0"/>
                </a:solidFill>
              </a:defRPr>
            </a:pPr>
            <a:r>
              <a:t>•  Interactive Application: Thoothukudi Salt Pan Intelligence Dashboard</a:t>
            </a:r>
          </a:p>
        </p:txBody>
      </p:sp>
      <p:sp>
        <p:nvSpPr>
          <p:cNvPr id="5" name="Rounded Rectangle 4"/>
          <p:cNvSpPr/>
          <p:nvPr/>
        </p:nvSpPr>
        <p:spPr>
          <a:xfrm>
            <a:off x="7132320" y="731520"/>
            <a:ext cx="4327855" cy="5394960"/>
          </a:xfrm>
          <a:prstGeom prst="roundRect">
            <a:avLst/>
          </a:prstGeom>
          <a:solidFill>
            <a:srgbClr val="14181E"/>
          </a:solidFill>
          <a:ln w="1524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1_cover_saltpan.png"/>
          <p:cNvPicPr>
            <a:picLocks noChangeAspect="1"/>
          </p:cNvPicPr>
          <p:nvPr/>
        </p:nvPicPr>
        <p:blipFill>
          <a:blip r:embed="rId2"/>
          <a:stretch>
            <a:fillRect/>
          </a:stretch>
        </p:blipFill>
        <p:spPr>
          <a:xfrm>
            <a:off x="7223760" y="822960"/>
            <a:ext cx="4144975" cy="521208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EXECUTIVE SUMMARY</a:t>
            </a:r>
          </a:p>
          <a:p>
            <a:pPr>
              <a:spcAft>
                <a:spcPts val="200"/>
              </a:spcAft>
              <a:defRPr sz="2000" b="1">
                <a:solidFill>
                  <a:srgbClr val="FFFFFF"/>
                </a:solidFill>
                <a:latin typeface="Segoe UI"/>
              </a:defRPr>
            </a:pPr>
            <a:r>
              <a:t>Project Overview: AI-Driven Salt Pan Intelligence</a:t>
            </a:r>
          </a:p>
          <a:p>
            <a:pPr>
              <a:defRPr sz="1100">
                <a:solidFill>
                  <a:srgbClr val="56B4E9"/>
                </a:solidFill>
                <a:latin typeface="Segoe UI"/>
              </a:defRPr>
            </a:pPr>
            <a:r>
              <a:t>Multi-stage geospatial workflow from raw Sentinel-2 L2A tiles to interactive dashboard</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2 of 25</a:t>
            </a:r>
          </a:p>
        </p:txBody>
      </p:sp>
      <p:sp>
        <p:nvSpPr>
          <p:cNvPr id="5" name="Rounded Rectangle 4"/>
          <p:cNvSpPr/>
          <p:nvPr/>
        </p:nvSpPr>
        <p:spPr>
          <a:xfrm>
            <a:off x="731520" y="1463040"/>
            <a:ext cx="3383280" cy="20116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00200"/>
            <a:ext cx="3108960" cy="1737360"/>
          </a:xfrm>
          <a:prstGeom prst="rect">
            <a:avLst/>
          </a:prstGeom>
          <a:noFill/>
        </p:spPr>
        <p:txBody>
          <a:bodyPr wrap="square">
            <a:spAutoFit/>
          </a:bodyPr>
          <a:lstStyle/>
          <a:p>
            <a:pPr>
              <a:defRPr b="1" sz="1100">
                <a:solidFill>
                  <a:srgbClr val="F2C94C"/>
                </a:solidFill>
              </a:defRPr>
            </a:pPr>
            <a:r>
              <a:t>1. GEOSPATIAL PROBLEM</a:t>
            </a:r>
          </a:p>
          <a:p>
            <a:pPr>
              <a:spcAft>
                <a:spcPts val="400"/>
              </a:spcAft>
              <a:defRPr sz="950">
                <a:solidFill>
                  <a:srgbClr val="E2E8F0"/>
                </a:solidFill>
                <a:latin typeface="Segoe UI"/>
              </a:defRPr>
            </a:pPr>
            <a:r>
              <a:t>•  Thoothukudi produces ~30% of India's marine salt</a:t>
            </a:r>
          </a:p>
          <a:p>
            <a:pPr>
              <a:spcAft>
                <a:spcPts val="400"/>
              </a:spcAft>
              <a:defRPr sz="950">
                <a:solidFill>
                  <a:srgbClr val="E2E8F0"/>
                </a:solidFill>
                <a:latin typeface="Segoe UI"/>
              </a:defRPr>
            </a:pPr>
            <a:r>
              <a:t>•  Salt pans spectrally shift between dry brine crusts and open water reservoirs</a:t>
            </a:r>
          </a:p>
          <a:p>
            <a:pPr>
              <a:spcAft>
                <a:spcPts val="400"/>
              </a:spcAft>
              <a:defRPr sz="950">
                <a:solidFill>
                  <a:srgbClr val="E2E8F0"/>
                </a:solidFill>
                <a:latin typeface="Segoe UI"/>
              </a:defRPr>
            </a:pPr>
            <a:r>
              <a:t>•  Severe confusion with coastal tidal flats, beaches &amp; saline agricultural soils</a:t>
            </a:r>
          </a:p>
        </p:txBody>
      </p:sp>
      <p:sp>
        <p:nvSpPr>
          <p:cNvPr id="7" name="Rounded Rectangle 6"/>
          <p:cNvSpPr/>
          <p:nvPr/>
        </p:nvSpPr>
        <p:spPr>
          <a:xfrm>
            <a:off x="4389120" y="1463040"/>
            <a:ext cx="3383280" cy="20116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00200"/>
            <a:ext cx="3108960" cy="1737360"/>
          </a:xfrm>
          <a:prstGeom prst="rect">
            <a:avLst/>
          </a:prstGeom>
          <a:noFill/>
        </p:spPr>
        <p:txBody>
          <a:bodyPr wrap="square">
            <a:spAutoFit/>
          </a:bodyPr>
          <a:lstStyle/>
          <a:p>
            <a:pPr>
              <a:defRPr b="1" sz="1100">
                <a:solidFill>
                  <a:srgbClr val="56B4E9"/>
                </a:solidFill>
              </a:defRPr>
            </a:pPr>
            <a:r>
              <a:t>2. ML &amp; GIS APPROACH</a:t>
            </a:r>
          </a:p>
          <a:p>
            <a:pPr>
              <a:spcAft>
                <a:spcPts val="400"/>
              </a:spcAft>
              <a:defRPr sz="950">
                <a:solidFill>
                  <a:srgbClr val="E2E8F0"/>
                </a:solidFill>
                <a:latin typeface="Segoe UI"/>
              </a:defRPr>
            </a:pPr>
            <a:r>
              <a:t>•  16 engineered multispectral features (B02-B12, NDVI, MNDWI, NDMI, NDBI)</a:t>
            </a:r>
          </a:p>
          <a:p>
            <a:pPr>
              <a:spcAft>
                <a:spcPts val="400"/>
              </a:spcAft>
              <a:defRPr sz="950">
                <a:solidFill>
                  <a:srgbClr val="E2E8F0"/>
                </a:solidFill>
                <a:latin typeface="Segoe UI"/>
              </a:defRPr>
            </a:pPr>
            <a:r>
              <a:t>•  8,426 polygon training samples with 15.8:1 imbalance</a:t>
            </a:r>
          </a:p>
          <a:p>
            <a:pPr>
              <a:spcAft>
                <a:spcPts val="400"/>
              </a:spcAft>
              <a:defRPr sz="950">
                <a:solidFill>
                  <a:srgbClr val="E2E8F0"/>
                </a:solidFill>
                <a:latin typeface="Segoe UI"/>
              </a:defRPr>
            </a:pPr>
            <a:r>
              <a:t>•  Rigorous 7-algorithm benchmark; SVM RBF won on F1 (0.8889)</a:t>
            </a:r>
          </a:p>
        </p:txBody>
      </p:sp>
      <p:sp>
        <p:nvSpPr>
          <p:cNvPr id="9" name="Rounded Rectangle 8"/>
          <p:cNvSpPr/>
          <p:nvPr/>
        </p:nvSpPr>
        <p:spPr>
          <a:xfrm>
            <a:off x="8046720" y="1463040"/>
            <a:ext cx="3383280" cy="20116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79" y="1600200"/>
            <a:ext cx="3108960" cy="1737360"/>
          </a:xfrm>
          <a:prstGeom prst="rect">
            <a:avLst/>
          </a:prstGeom>
          <a:noFill/>
        </p:spPr>
        <p:txBody>
          <a:bodyPr wrap="square">
            <a:spAutoFit/>
          </a:bodyPr>
          <a:lstStyle/>
          <a:p>
            <a:pPr>
              <a:defRPr b="1" sz="1100">
                <a:solidFill>
                  <a:srgbClr val="48BB78"/>
                </a:solidFill>
              </a:defRPr>
            </a:pPr>
            <a:r>
              <a:t>3. VERIFIED OUTCOMES</a:t>
            </a:r>
          </a:p>
          <a:p>
            <a:pPr>
              <a:spcAft>
                <a:spcPts val="400"/>
              </a:spcAft>
              <a:defRPr sz="950">
                <a:solidFill>
                  <a:srgbClr val="E2E8F0"/>
                </a:solidFill>
                <a:latin typeface="Segoe UI"/>
              </a:defRPr>
            </a:pPr>
            <a:r>
              <a:t>•  1,264.52 ha final vector inventory across 2,071 parcels</a:t>
            </a:r>
          </a:p>
          <a:p>
            <a:pPr>
              <a:spcAft>
                <a:spcPts val="400"/>
              </a:spcAft>
              <a:defRPr sz="950">
                <a:solidFill>
                  <a:srgbClr val="E2E8F0"/>
                </a:solidFill>
                <a:latin typeface="Segoe UI"/>
              </a:defRPr>
            </a:pPr>
            <a:r>
              <a:t>•  Strictly clipped to official district boundary (627 out-of-district purged)</a:t>
            </a:r>
          </a:p>
          <a:p>
            <a:pPr>
              <a:spcAft>
                <a:spcPts val="400"/>
              </a:spcAft>
              <a:defRPr sz="950">
                <a:solidFill>
                  <a:srgbClr val="E2E8F0"/>
                </a:solidFill>
                <a:latin typeface="Segoe UI"/>
              </a:defRPr>
            </a:pPr>
            <a:r>
              <a:t>•  Full-stack React &amp; MapLibre GL JS intelligence dashboard</a:t>
            </a:r>
          </a:p>
        </p:txBody>
      </p:sp>
      <p:sp>
        <p:nvSpPr>
          <p:cNvPr id="11" name="Rounded Rectangle 10"/>
          <p:cNvSpPr/>
          <p:nvPr/>
        </p:nvSpPr>
        <p:spPr>
          <a:xfrm>
            <a:off x="731520" y="3657600"/>
            <a:ext cx="10698480" cy="256032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lide2_project_overview_diagram.png"/>
          <p:cNvPicPr>
            <a:picLocks noChangeAspect="1"/>
          </p:cNvPicPr>
          <p:nvPr/>
        </p:nvPicPr>
        <p:blipFill>
          <a:blip r:embed="rId2"/>
          <a:stretch>
            <a:fillRect/>
          </a:stretch>
        </p:blipFill>
        <p:spPr>
          <a:xfrm>
            <a:off x="822960" y="3749039"/>
            <a:ext cx="10515600" cy="237744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PROBLEM FORMULATION</a:t>
            </a:r>
          </a:p>
          <a:p>
            <a:pPr>
              <a:spcAft>
                <a:spcPts val="200"/>
              </a:spcAft>
              <a:defRPr sz="2000" b="1">
                <a:solidFill>
                  <a:srgbClr val="FFFFFF"/>
                </a:solidFill>
                <a:latin typeface="Segoe UI"/>
              </a:defRPr>
            </a:pPr>
            <a:r>
              <a:t>Problem Statement: Challenges in Salt Pan Delineation</a:t>
            </a:r>
          </a:p>
          <a:p>
            <a:pPr>
              <a:defRPr sz="1100">
                <a:solidFill>
                  <a:srgbClr val="56B4E9"/>
                </a:solidFill>
                <a:latin typeface="Segoe UI"/>
              </a:defRPr>
            </a:pPr>
            <a:r>
              <a:t>Why traditional visual interpretation and simple thresholding fail in coastal salterns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3 of 25</a:t>
            </a:r>
          </a:p>
        </p:txBody>
      </p:sp>
      <p:sp>
        <p:nvSpPr>
          <p:cNvPr id="5" name="Rounded Rectangle 4"/>
          <p:cNvSpPr/>
          <p:nvPr/>
        </p:nvSpPr>
        <p:spPr>
          <a:xfrm>
            <a:off x="7315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389120"/>
          </a:xfrm>
          <a:prstGeom prst="rect">
            <a:avLst/>
          </a:prstGeom>
          <a:noFill/>
        </p:spPr>
        <p:txBody>
          <a:bodyPr wrap="square">
            <a:spAutoFit/>
          </a:bodyPr>
          <a:lstStyle/>
          <a:p>
            <a:pPr>
              <a:spcAft>
                <a:spcPts val="1000"/>
              </a:spcAft>
              <a:defRPr b="1" sz="1300">
                <a:solidFill>
                  <a:srgbClr val="F2C94C"/>
                </a:solidFill>
              </a:defRPr>
            </a:pPr>
            <a:r>
              <a:t>THE MULTISPECTRAL CHALLENGE</a:t>
            </a:r>
          </a:p>
          <a:p>
            <a:pPr>
              <a:spcAft>
                <a:spcPts val="1000"/>
              </a:spcAft>
              <a:defRPr sz="1050">
                <a:solidFill>
                  <a:srgbClr val="E2E8F0"/>
                </a:solidFill>
                <a:latin typeface="Segoe UI"/>
              </a:defRPr>
            </a:pPr>
            <a:r>
              <a:t>•  Spectral Inconstancy: During pre-crystallization, condenser pans contain deep brine that resembles shallow coastal water or wetlands.</a:t>
            </a:r>
          </a:p>
          <a:p>
            <a:pPr>
              <a:spcAft>
                <a:spcPts val="1000"/>
              </a:spcAft>
              <a:defRPr sz="1050">
                <a:solidFill>
                  <a:srgbClr val="E2E8F0"/>
                </a:solidFill>
                <a:latin typeface="Segoe UI"/>
              </a:defRPr>
            </a:pPr>
            <a:r>
              <a:t>•  Crystallization Saturation: When crystallized, dry salt beds exhibit extreme visible reflectance (albedo &gt; 0.8), mirroring white sand beaches and bare saline soils.</a:t>
            </a:r>
          </a:p>
          <a:p>
            <a:pPr>
              <a:spcAft>
                <a:spcPts val="1000"/>
              </a:spcAft>
              <a:defRPr sz="1050">
                <a:solidFill>
                  <a:srgbClr val="E2E8F0"/>
                </a:solidFill>
                <a:latin typeface="Segoe UI"/>
              </a:defRPr>
            </a:pPr>
            <a:r>
              <a:t>•  Spatial Fragmentation: Salt pans are bounded by narrow earthen bunds (1-3 m wide), which are below native 10m/20m pixel resolution, causing mixed pixel artifacts.</a:t>
            </a:r>
          </a:p>
          <a:p>
            <a:pPr>
              <a:spcAft>
                <a:spcPts val="1000"/>
              </a:spcAft>
              <a:defRPr sz="1050">
                <a:solidFill>
                  <a:srgbClr val="E2E8F0"/>
                </a:solidFill>
                <a:latin typeface="Segoe UI"/>
              </a:defRPr>
            </a:pPr>
            <a:r>
              <a:t>•  Cloud &amp; Sun-Glint Confusion: High-reflectance cloud edges and coastal sun-glint introduce severe false positives in naive thresholding pipelines.</a:t>
            </a:r>
          </a:p>
          <a:p>
            <a:pPr>
              <a:spcAft>
                <a:spcPts val="1000"/>
              </a:spcAft>
              <a:defRPr sz="1050">
                <a:solidFill>
                  <a:srgbClr val="E2E8F0"/>
                </a:solidFill>
                <a:latin typeface="Segoe UI"/>
              </a:defRPr>
            </a:pPr>
            <a:r>
              <a:t>•  Need for ML: Non-linear spectral band ratios (SWIR, NIR, MNDWI) and supervised classifiers are mandatory to achieve robust separation.</a:t>
            </a:r>
          </a:p>
        </p:txBody>
      </p:sp>
      <p:sp>
        <p:nvSpPr>
          <p:cNvPr id="7" name="Rounded Rectangle 6"/>
          <p:cNvSpPr/>
          <p:nvPr/>
        </p:nvSpPr>
        <p:spPr>
          <a:xfrm>
            <a:off x="6217920" y="1463040"/>
            <a:ext cx="5212080" cy="146304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554480"/>
            <a:ext cx="4846320" cy="1280160"/>
          </a:xfrm>
          <a:prstGeom prst="rect">
            <a:avLst/>
          </a:prstGeom>
          <a:noFill/>
        </p:spPr>
        <p:txBody>
          <a:bodyPr wrap="square">
            <a:spAutoFit/>
          </a:bodyPr>
          <a:lstStyle/>
          <a:p>
            <a:pPr>
              <a:defRPr b="1" sz="1100">
                <a:solidFill>
                  <a:srgbClr val="56B4E9"/>
                </a:solidFill>
              </a:defRPr>
            </a:pPr>
            <a:r>
              <a:t>Challenge 1: High Intra-Class Spectral Variance</a:t>
            </a:r>
          </a:p>
          <a:p>
            <a:pPr>
              <a:spcAft>
                <a:spcPts val="600"/>
              </a:spcAft>
              <a:defRPr sz="950">
                <a:solidFill>
                  <a:srgbClr val="E2E8F0"/>
                </a:solidFill>
                <a:latin typeface="Segoe UI"/>
              </a:defRPr>
            </a:pPr>
            <a:r>
              <a:t>•  Salt pans cycle between dark open water (Class 80 proxy) and blinding white crusts (Class 60/62 proxy). Single-band thresholds fail.</a:t>
            </a:r>
          </a:p>
        </p:txBody>
      </p:sp>
      <p:sp>
        <p:nvSpPr>
          <p:cNvPr id="9" name="Rounded Rectangle 8"/>
          <p:cNvSpPr/>
          <p:nvPr/>
        </p:nvSpPr>
        <p:spPr>
          <a:xfrm>
            <a:off x="6217920" y="3108960"/>
            <a:ext cx="5212080" cy="146304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3200400"/>
            <a:ext cx="4846320" cy="1280160"/>
          </a:xfrm>
          <a:prstGeom prst="rect">
            <a:avLst/>
          </a:prstGeom>
          <a:noFill/>
        </p:spPr>
        <p:txBody>
          <a:bodyPr wrap="square">
            <a:spAutoFit/>
          </a:bodyPr>
          <a:lstStyle/>
          <a:p>
            <a:pPr>
              <a:defRPr b="1" sz="1100">
                <a:solidFill>
                  <a:srgbClr val="C08BF0"/>
                </a:solidFill>
              </a:defRPr>
            </a:pPr>
            <a:r>
              <a:t>Challenge 2: Severe Class Imbalance (15.82 : 1)</a:t>
            </a:r>
          </a:p>
          <a:p>
            <a:pPr>
              <a:spcAft>
                <a:spcPts val="600"/>
              </a:spcAft>
              <a:defRPr sz="950">
                <a:solidFill>
                  <a:srgbClr val="E2E8F0"/>
                </a:solidFill>
                <a:latin typeface="Segoe UI"/>
              </a:defRPr>
            </a:pPr>
            <a:r>
              <a:t>•  Salt pans represent less than 1% of Thoothukudi district's terrestrial surface. Standard classifiers collapse into majority non-salt prediction without balanced class weights.</a:t>
            </a:r>
          </a:p>
        </p:txBody>
      </p:sp>
      <p:sp>
        <p:nvSpPr>
          <p:cNvPr id="11" name="Rounded Rectangle 10"/>
          <p:cNvSpPr/>
          <p:nvPr/>
        </p:nvSpPr>
        <p:spPr>
          <a:xfrm>
            <a:off x="6217920" y="4754880"/>
            <a:ext cx="5212080" cy="146304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846320"/>
            <a:ext cx="4846320" cy="1280160"/>
          </a:xfrm>
          <a:prstGeom prst="rect">
            <a:avLst/>
          </a:prstGeom>
          <a:noFill/>
        </p:spPr>
        <p:txBody>
          <a:bodyPr wrap="square">
            <a:spAutoFit/>
          </a:bodyPr>
          <a:lstStyle/>
          <a:p>
            <a:pPr>
              <a:defRPr b="1" sz="1100">
                <a:solidFill>
                  <a:srgbClr val="48BB78"/>
                </a:solidFill>
              </a:defRPr>
            </a:pPr>
            <a:r>
              <a:t>Challenge 3: Manual Digitization Inefficiency</a:t>
            </a:r>
          </a:p>
          <a:p>
            <a:pPr>
              <a:spcAft>
                <a:spcPts val="600"/>
              </a:spcAft>
              <a:defRPr sz="950">
                <a:solidFill>
                  <a:srgbClr val="E2E8F0"/>
                </a:solidFill>
                <a:latin typeface="Segoe UI"/>
              </a:defRPr>
            </a:pPr>
            <a:r>
              <a:t>•  District-scale manual digitization across 4,700 km² is slow, subjective, and unable to capture rapid seasonal expansion or abandonment.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CONTEXT &amp; SIGNIFICANCE</a:t>
            </a:r>
          </a:p>
          <a:p>
            <a:pPr>
              <a:spcAft>
                <a:spcPts val="200"/>
              </a:spcAft>
              <a:defRPr sz="2000" b="1">
                <a:solidFill>
                  <a:srgbClr val="FFFFFF"/>
                </a:solidFill>
                <a:latin typeface="Segoe UI"/>
              </a:defRPr>
            </a:pPr>
            <a:r>
              <a:t>Motivation and Scientific Significance</a:t>
            </a:r>
          </a:p>
          <a:p>
            <a:pPr>
              <a:defRPr sz="1100">
                <a:solidFill>
                  <a:srgbClr val="56B4E9"/>
                </a:solidFill>
                <a:latin typeface="Segoe UI"/>
              </a:defRPr>
            </a:pPr>
            <a:r>
              <a:t>Strategic necessity of an automated, defensible spatial salt pan inventory</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4 of 25</a:t>
            </a:r>
          </a:p>
        </p:txBody>
      </p:sp>
      <p:sp>
        <p:nvSpPr>
          <p:cNvPr id="5" name="Rounded Rectangle 4"/>
          <p:cNvSpPr/>
          <p:nvPr/>
        </p:nvSpPr>
        <p:spPr>
          <a:xfrm>
            <a:off x="731520" y="1463040"/>
            <a:ext cx="33832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645920"/>
            <a:ext cx="3108960" cy="4389120"/>
          </a:xfrm>
          <a:prstGeom prst="rect">
            <a:avLst/>
          </a:prstGeom>
          <a:noFill/>
        </p:spPr>
        <p:txBody>
          <a:bodyPr wrap="square">
            <a:spAutoFit/>
          </a:bodyPr>
          <a:lstStyle/>
          <a:p>
            <a:pPr>
              <a:spcAft>
                <a:spcPts val="1400"/>
              </a:spcAft>
              <a:defRPr b="1" sz="1200">
                <a:solidFill>
                  <a:srgbClr val="F2C94C"/>
                </a:solidFill>
              </a:defRPr>
            </a:pPr>
            <a:r>
              <a:t>COASTAL LAND-USE ADMINISTRATION</a:t>
            </a:r>
          </a:p>
          <a:p>
            <a:pPr>
              <a:spcAft>
                <a:spcPts val="1200"/>
              </a:spcAft>
              <a:defRPr sz="1000">
                <a:solidFill>
                  <a:srgbClr val="E2E8F0"/>
                </a:solidFill>
                <a:latin typeface="Segoe UI"/>
              </a:defRPr>
            </a:pPr>
            <a:r>
              <a:t>•  Cadastral Reconciliation: Enables district revenue departments to reconcile revenue lease records against active evaporation areas.</a:t>
            </a:r>
          </a:p>
          <a:p>
            <a:pPr>
              <a:spcAft>
                <a:spcPts val="1200"/>
              </a:spcAft>
              <a:defRPr sz="1000">
                <a:solidFill>
                  <a:srgbClr val="E2E8F0"/>
                </a:solidFill>
                <a:latin typeface="Segoe UI"/>
              </a:defRPr>
            </a:pPr>
            <a:r>
              <a:t>•  Encroachment Monitoring: Detects unauthorized bunding and saltern conversion along sensitive intertidal mudflats and mangrove reserves.</a:t>
            </a:r>
          </a:p>
          <a:p>
            <a:pPr>
              <a:spcAft>
                <a:spcPts val="1200"/>
              </a:spcAft>
              <a:defRPr sz="1000">
                <a:solidFill>
                  <a:srgbClr val="E2E8F0"/>
                </a:solidFill>
                <a:latin typeface="Segoe UI"/>
              </a:defRPr>
            </a:pPr>
            <a:r>
              <a:t>•  Spatial Planning: Informs CRZ (Coastal Regulation Zone) compliance and infrastructure development along the Gulf of Mannar corridor.</a:t>
            </a:r>
          </a:p>
        </p:txBody>
      </p:sp>
      <p:sp>
        <p:nvSpPr>
          <p:cNvPr id="7" name="Rounded Rectangle 6"/>
          <p:cNvSpPr/>
          <p:nvPr/>
        </p:nvSpPr>
        <p:spPr>
          <a:xfrm>
            <a:off x="4389120" y="1463040"/>
            <a:ext cx="33832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26280" y="1645920"/>
            <a:ext cx="3108960" cy="4389120"/>
          </a:xfrm>
          <a:prstGeom prst="rect">
            <a:avLst/>
          </a:prstGeom>
          <a:noFill/>
        </p:spPr>
        <p:txBody>
          <a:bodyPr wrap="square">
            <a:spAutoFit/>
          </a:bodyPr>
          <a:lstStyle/>
          <a:p>
            <a:pPr>
              <a:spcAft>
                <a:spcPts val="1400"/>
              </a:spcAft>
              <a:defRPr b="1" sz="1200">
                <a:solidFill>
                  <a:srgbClr val="56B4E9"/>
                </a:solidFill>
              </a:defRPr>
            </a:pPr>
            <a:r>
              <a:t>ENVIRONMENTAL &amp; HYDROLOGICAL MONITORING</a:t>
            </a:r>
          </a:p>
          <a:p>
            <a:pPr>
              <a:spcAft>
                <a:spcPts val="1200"/>
              </a:spcAft>
              <a:defRPr sz="1000">
                <a:solidFill>
                  <a:srgbClr val="E2E8F0"/>
                </a:solidFill>
                <a:latin typeface="Segoe UI"/>
              </a:defRPr>
            </a:pPr>
            <a:r>
              <a:t>•  Groundwater Salinization: Salt pans act as localized hypersaline infiltration zones; accurate boundaries delineate risk zones for nearby aquifers.</a:t>
            </a:r>
          </a:p>
          <a:p>
            <a:pPr>
              <a:spcAft>
                <a:spcPts val="1200"/>
              </a:spcAft>
              <a:defRPr sz="1000">
                <a:solidFill>
                  <a:srgbClr val="E2E8F0"/>
                </a:solidFill>
                <a:latin typeface="Segoe UI"/>
              </a:defRPr>
            </a:pPr>
            <a:r>
              <a:t>•  Tidal Flushing Balance: Identifies intake and discharge points that influence estuarine salinity dynamics in the Tamirabarani river basin.</a:t>
            </a:r>
          </a:p>
          <a:p>
            <a:pPr>
              <a:spcAft>
                <a:spcPts val="1200"/>
              </a:spcAft>
              <a:defRPr sz="1000">
                <a:solidFill>
                  <a:srgbClr val="E2E8F0"/>
                </a:solidFill>
                <a:latin typeface="Segoe UI"/>
              </a:defRPr>
            </a:pPr>
            <a:r>
              <a:t>•  Ecosystem Boundaries: Provides baseline spatial polygons to evaluate buffer zones adjacent to the Gulf of Mannar Marine National Park.</a:t>
            </a:r>
          </a:p>
        </p:txBody>
      </p:sp>
      <p:sp>
        <p:nvSpPr>
          <p:cNvPr id="9" name="Rounded Rectangle 8"/>
          <p:cNvSpPr/>
          <p:nvPr/>
        </p:nvSpPr>
        <p:spPr>
          <a:xfrm>
            <a:off x="8046720" y="1463040"/>
            <a:ext cx="33832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83880" y="1645920"/>
            <a:ext cx="3108960" cy="4389120"/>
          </a:xfrm>
          <a:prstGeom prst="rect">
            <a:avLst/>
          </a:prstGeom>
          <a:noFill/>
        </p:spPr>
        <p:txBody>
          <a:bodyPr wrap="square">
            <a:spAutoFit/>
          </a:bodyPr>
          <a:lstStyle/>
          <a:p>
            <a:pPr>
              <a:spcAft>
                <a:spcPts val="1400"/>
              </a:spcAft>
              <a:defRPr b="1" sz="1200">
                <a:solidFill>
                  <a:srgbClr val="C08BF0"/>
                </a:solidFill>
              </a:defRPr>
            </a:pPr>
            <a:r>
              <a:t>SCALABLE REMOTE SENSING AUTOMATION</a:t>
            </a:r>
          </a:p>
          <a:p>
            <a:pPr>
              <a:spcAft>
                <a:spcPts val="1200"/>
              </a:spcAft>
              <a:defRPr sz="1000">
                <a:solidFill>
                  <a:srgbClr val="E2E8F0"/>
                </a:solidFill>
                <a:latin typeface="Segoe UI"/>
              </a:defRPr>
            </a:pPr>
            <a:r>
              <a:t>•  Reproducible Pipeline: Eliminates manual digitization bottlenecks by coupling ESA Copernicus open data with supervised ML.</a:t>
            </a:r>
          </a:p>
          <a:p>
            <a:pPr>
              <a:spcAft>
                <a:spcPts val="1200"/>
              </a:spcAft>
              <a:defRPr sz="1000">
                <a:solidFill>
                  <a:srgbClr val="E2E8F0"/>
                </a:solidFill>
                <a:latin typeface="Segoe UI"/>
              </a:defRPr>
            </a:pPr>
            <a:r>
              <a:t>•  Multi-Temporal Monitoring: Establishes a verified framework capable of executing quarterly change detection across satellite passes.</a:t>
            </a:r>
          </a:p>
          <a:p>
            <a:pPr>
              <a:spcAft>
                <a:spcPts val="1200"/>
              </a:spcAft>
              <a:defRPr sz="1000">
                <a:solidFill>
                  <a:srgbClr val="E2E8F0"/>
                </a:solidFill>
                <a:latin typeface="Segoe UI"/>
              </a:defRPr>
            </a:pPr>
            <a:r>
              <a:t>•  Methodological Rigor: Enforces spatial holdout discipline and minimum mapping unit (MMU) spatial filtering.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GEOGRAPHIC DOMAIN</a:t>
            </a:r>
          </a:p>
          <a:p>
            <a:pPr>
              <a:spcAft>
                <a:spcPts val="200"/>
              </a:spcAft>
              <a:defRPr sz="2000" b="1">
                <a:solidFill>
                  <a:srgbClr val="FFFFFF"/>
                </a:solidFill>
                <a:latin typeface="Segoe UI"/>
              </a:defRPr>
            </a:pPr>
            <a:r>
              <a:t>Study Area: Thoothukudi District, Tamil Nadu</a:t>
            </a:r>
          </a:p>
          <a:p>
            <a:pPr>
              <a:defRPr sz="1100">
                <a:solidFill>
                  <a:srgbClr val="56B4E9"/>
                </a:solidFill>
                <a:latin typeface="Segoe UI"/>
              </a:defRPr>
            </a:pPr>
            <a:r>
              <a:t>Geographic extent, coastal morphology, and climatic drivers of marine salt manufacturing</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5 of 25</a:t>
            </a:r>
          </a:p>
        </p:txBody>
      </p:sp>
      <p:sp>
        <p:nvSpPr>
          <p:cNvPr id="5" name="Rounded Rectangle 4"/>
          <p:cNvSpPr/>
          <p:nvPr/>
        </p:nvSpPr>
        <p:spPr>
          <a:xfrm>
            <a:off x="7315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389120"/>
          </a:xfrm>
          <a:prstGeom prst="rect">
            <a:avLst/>
          </a:prstGeom>
          <a:noFill/>
        </p:spPr>
        <p:txBody>
          <a:bodyPr wrap="square">
            <a:spAutoFit/>
          </a:bodyPr>
          <a:lstStyle/>
          <a:p>
            <a:pPr>
              <a:spcAft>
                <a:spcPts val="1000"/>
              </a:spcAft>
              <a:defRPr b="1" sz="1300">
                <a:solidFill>
                  <a:srgbClr val="F2C94C"/>
                </a:solidFill>
              </a:defRPr>
            </a:pPr>
            <a:r>
              <a:t>GEOGRAPHIC &amp; CLIMATIC PROFILE</a:t>
            </a:r>
          </a:p>
          <a:p>
            <a:pPr>
              <a:spcAft>
                <a:spcPts val="1000"/>
              </a:spcAft>
              <a:defRPr sz="1050">
                <a:solidFill>
                  <a:srgbClr val="E2E8F0"/>
                </a:solidFill>
                <a:latin typeface="Segoe UI"/>
              </a:defRPr>
            </a:pPr>
            <a:r>
              <a:t>•  Location: Southeastern coast of Tamil Nadu, India, bordering the Gulf of Mannar (8°19'N - 9°22'N, 77°40'E - 78°23'E).</a:t>
            </a:r>
          </a:p>
          <a:p>
            <a:pPr>
              <a:spcAft>
                <a:spcPts val="1000"/>
              </a:spcAft>
              <a:defRPr sz="1050">
                <a:solidFill>
                  <a:srgbClr val="E2E8F0"/>
                </a:solidFill>
                <a:latin typeface="Segoe UI"/>
              </a:defRPr>
            </a:pPr>
            <a:r>
              <a:t>•  Geographic Area: ~4,707 km² total district area with ~163 km of low-relief coastline.</a:t>
            </a:r>
          </a:p>
          <a:p>
            <a:pPr>
              <a:spcAft>
                <a:spcPts val="1000"/>
              </a:spcAft>
              <a:defRPr sz="1050">
                <a:solidFill>
                  <a:srgbClr val="E2E8F0"/>
                </a:solidFill>
                <a:latin typeface="Segoe UI"/>
              </a:defRPr>
            </a:pPr>
            <a:r>
              <a:t>•  Climatic Regimes: Semi-arid tropical climate with high mean temperatures (28°C - 35°C), low rainfall (~650 mm/yr), and strong coastal winds.</a:t>
            </a:r>
          </a:p>
          <a:p>
            <a:pPr>
              <a:spcAft>
                <a:spcPts val="1000"/>
              </a:spcAft>
              <a:defRPr sz="1050">
                <a:solidFill>
                  <a:srgbClr val="E2E8F0"/>
                </a:solidFill>
                <a:latin typeface="Segoe UI"/>
              </a:defRPr>
            </a:pPr>
            <a:r>
              <a:t>•  Hydrological Setting: Drained by the Tamirabarani river basin entering the Gulf of Mannar at Punnakayal.</a:t>
            </a:r>
          </a:p>
          <a:p>
            <a:pPr>
              <a:spcAft>
                <a:spcPts val="1000"/>
              </a:spcAft>
              <a:defRPr sz="1050">
                <a:solidFill>
                  <a:srgbClr val="E2E8F0"/>
                </a:solidFill>
                <a:latin typeface="Segoe UI"/>
              </a:defRPr>
            </a:pPr>
            <a:r>
              <a:t>•  Salt Production Hub: Favorable microclimate yields 8-9 operational solar evaporation months per year, making it Tamil Nadu's salt capital.</a:t>
            </a:r>
          </a:p>
        </p:txBody>
      </p:sp>
      <p:sp>
        <p:nvSpPr>
          <p:cNvPr id="7" name="Rounded Rectangle 6"/>
          <p:cNvSpPr/>
          <p:nvPr/>
        </p:nvSpPr>
        <p:spPr>
          <a:xfrm>
            <a:off x="6217920" y="1463040"/>
            <a:ext cx="5212080" cy="4754880"/>
          </a:xfrm>
          <a:prstGeom prst="roundRect">
            <a:avLst/>
          </a:prstGeom>
          <a:solidFill>
            <a:srgbClr val="14181E"/>
          </a:solidFill>
          <a:ln w="1524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5_thoothukudi_location_map.png"/>
          <p:cNvPicPr>
            <a:picLocks noChangeAspect="1"/>
          </p:cNvPicPr>
          <p:nvPr/>
        </p:nvPicPr>
        <p:blipFill>
          <a:blip r:embed="rId2"/>
          <a:stretch>
            <a:fillRect/>
          </a:stretch>
        </p:blipFill>
        <p:spPr>
          <a:xfrm>
            <a:off x="6309360" y="1554480"/>
            <a:ext cx="5029200" cy="4572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RESEARCH GOALS</a:t>
            </a:r>
          </a:p>
          <a:p>
            <a:pPr>
              <a:spcAft>
                <a:spcPts val="200"/>
              </a:spcAft>
              <a:defRPr sz="2000" b="1">
                <a:solidFill>
                  <a:srgbClr val="FFFFFF"/>
                </a:solidFill>
                <a:latin typeface="Segoe UI"/>
              </a:defRPr>
            </a:pPr>
            <a:r>
              <a:t>Project Objectives &amp; Execution Milestones</a:t>
            </a:r>
          </a:p>
          <a:p>
            <a:pPr>
              <a:defRPr sz="1100">
                <a:solidFill>
                  <a:srgbClr val="56B4E9"/>
                </a:solidFill>
                <a:latin typeface="Segoe UI"/>
              </a:defRPr>
            </a:pPr>
            <a:r>
              <a:t>Five clear research objectives establishing a complete, reproducible mapping lifecycle</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6 of 25</a:t>
            </a:r>
          </a:p>
        </p:txBody>
      </p:sp>
      <p:sp>
        <p:nvSpPr>
          <p:cNvPr id="5" name="Rounded Rectangle 4"/>
          <p:cNvSpPr/>
          <p:nvPr/>
        </p:nvSpPr>
        <p:spPr>
          <a:xfrm>
            <a:off x="731520" y="1463040"/>
            <a:ext cx="10698480" cy="841248"/>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36192"/>
            <a:ext cx="10332720" cy="694944"/>
          </a:xfrm>
          <a:prstGeom prst="rect">
            <a:avLst/>
          </a:prstGeom>
          <a:noFill/>
        </p:spPr>
        <p:txBody>
          <a:bodyPr wrap="square">
            <a:spAutoFit/>
          </a:bodyPr>
          <a:lstStyle/>
          <a:p>
            <a:pPr>
              <a:spcAft>
                <a:spcPts val="200"/>
              </a:spcAft>
              <a:defRPr b="1" sz="1150">
                <a:solidFill>
                  <a:srgbClr val="56B4E9"/>
                </a:solidFill>
              </a:defRPr>
            </a:pPr>
            <a:r>
              <a:t>1. MULTISPECTRAL DATA CURATION</a:t>
            </a:r>
          </a:p>
          <a:p>
            <a:pPr>
              <a:defRPr sz="950">
                <a:solidFill>
                  <a:srgbClr val="E2E8F0"/>
                </a:solidFill>
              </a:defRPr>
            </a:pPr>
            <a:r>
              <a:t>Ingest and calibrate Sentinel-2 Level-2A multi-tile scenes; reproject to EPSG:32643 and co-align with ESA WorldCover 2021 at uniform 20m resolution.</a:t>
            </a:r>
          </a:p>
        </p:txBody>
      </p:sp>
      <p:sp>
        <p:nvSpPr>
          <p:cNvPr id="7" name="Rounded Rectangle 6"/>
          <p:cNvSpPr/>
          <p:nvPr/>
        </p:nvSpPr>
        <p:spPr>
          <a:xfrm>
            <a:off x="731520" y="2423160"/>
            <a:ext cx="10698480" cy="841248"/>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496312"/>
            <a:ext cx="10332720" cy="694944"/>
          </a:xfrm>
          <a:prstGeom prst="rect">
            <a:avLst/>
          </a:prstGeom>
          <a:noFill/>
        </p:spPr>
        <p:txBody>
          <a:bodyPr wrap="square">
            <a:spAutoFit/>
          </a:bodyPr>
          <a:lstStyle/>
          <a:p>
            <a:pPr>
              <a:spcAft>
                <a:spcPts val="200"/>
              </a:spcAft>
              <a:defRPr b="1" sz="1150">
                <a:solidFill>
                  <a:srgbClr val="3B82F6"/>
                </a:solidFill>
              </a:defRPr>
            </a:pPr>
            <a:r>
              <a:t>2. SPECTRAL FEATURE ENGINEERING</a:t>
            </a:r>
          </a:p>
          <a:p>
            <a:pPr>
              <a:defRPr sz="950">
                <a:solidFill>
                  <a:srgbClr val="E2E8F0"/>
                </a:solidFill>
              </a:defRPr>
            </a:pPr>
            <a:r>
              <a:t>Extract 6 calibrated surface reflectance bands (B02-B12) and derive 10 diagnostic spectral indices (NDVI, MNDWI, NDMI, NDBI, band ratios) across 8,426 polygon samples.</a:t>
            </a:r>
          </a:p>
        </p:txBody>
      </p:sp>
      <p:sp>
        <p:nvSpPr>
          <p:cNvPr id="9" name="Rounded Rectangle 8"/>
          <p:cNvSpPr/>
          <p:nvPr/>
        </p:nvSpPr>
        <p:spPr>
          <a:xfrm>
            <a:off x="731520" y="3383280"/>
            <a:ext cx="10698480" cy="841248"/>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456432"/>
            <a:ext cx="10332720" cy="694944"/>
          </a:xfrm>
          <a:prstGeom prst="rect">
            <a:avLst/>
          </a:prstGeom>
          <a:noFill/>
        </p:spPr>
        <p:txBody>
          <a:bodyPr wrap="square">
            <a:spAutoFit/>
          </a:bodyPr>
          <a:lstStyle/>
          <a:p>
            <a:pPr>
              <a:spcAft>
                <a:spcPts val="200"/>
              </a:spcAft>
              <a:defRPr b="1" sz="1150">
                <a:solidFill>
                  <a:srgbClr val="C08BF0"/>
                </a:solidFill>
              </a:defRPr>
            </a:pPr>
            <a:r>
              <a:t>3. MACHINE LEARNING BENCHMARKING</a:t>
            </a:r>
          </a:p>
          <a:p>
            <a:pPr>
              <a:defRPr sz="950">
                <a:solidFill>
                  <a:srgbClr val="E2E8F0"/>
                </a:solidFill>
              </a:defRPr>
            </a:pPr>
            <a:r>
              <a:t>Train and evaluate 7 diverse classification algorithms (SVM, RF, ExtraTrees, XGBoost, GradBoost, LogReg, QDA) under a polygon-grouped spatial block holdout.</a:t>
            </a:r>
          </a:p>
        </p:txBody>
      </p:sp>
      <p:sp>
        <p:nvSpPr>
          <p:cNvPr id="11" name="Rounded Rectangle 10"/>
          <p:cNvSpPr/>
          <p:nvPr/>
        </p:nvSpPr>
        <p:spPr>
          <a:xfrm>
            <a:off x="731520" y="4343400"/>
            <a:ext cx="10698480" cy="841248"/>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4416552"/>
            <a:ext cx="10332720" cy="694944"/>
          </a:xfrm>
          <a:prstGeom prst="rect">
            <a:avLst/>
          </a:prstGeom>
          <a:noFill/>
        </p:spPr>
        <p:txBody>
          <a:bodyPr wrap="square">
            <a:spAutoFit/>
          </a:bodyPr>
          <a:lstStyle/>
          <a:p>
            <a:pPr>
              <a:spcAft>
                <a:spcPts val="200"/>
              </a:spcAft>
              <a:defRPr b="1" sz="1150">
                <a:solidFill>
                  <a:srgbClr val="F2C94C"/>
                </a:solidFill>
              </a:defRPr>
            </a:pPr>
            <a:r>
              <a:t>4. DISTRICT INFERENCE &amp; POST-PROCESSING</a:t>
            </a:r>
          </a:p>
          <a:p>
            <a:pPr>
              <a:defRPr sz="950">
                <a:solidFill>
                  <a:srgbClr val="E2E8F0"/>
                </a:solidFill>
              </a:defRPr>
            </a:pPr>
            <a:r>
              <a:t>Execute full-scene windowed inference (90M+ pixels), followed by morphological sieve filtering (MMU ≥ 1,000 m²) and strict district boundary clipping.</a:t>
            </a:r>
          </a:p>
        </p:txBody>
      </p:sp>
      <p:sp>
        <p:nvSpPr>
          <p:cNvPr id="13" name="Rounded Rectangle 12"/>
          <p:cNvSpPr/>
          <p:nvPr/>
        </p:nvSpPr>
        <p:spPr>
          <a:xfrm>
            <a:off x="731520" y="5303520"/>
            <a:ext cx="10698480" cy="841248"/>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14400" y="5376672"/>
            <a:ext cx="10332720" cy="694944"/>
          </a:xfrm>
          <a:prstGeom prst="rect">
            <a:avLst/>
          </a:prstGeom>
          <a:noFill/>
        </p:spPr>
        <p:txBody>
          <a:bodyPr wrap="square">
            <a:spAutoFit/>
          </a:bodyPr>
          <a:lstStyle/>
          <a:p>
            <a:pPr>
              <a:spcAft>
                <a:spcPts val="200"/>
              </a:spcAft>
              <a:defRPr b="1" sz="1150">
                <a:solidFill>
                  <a:srgbClr val="48BB78"/>
                </a:solidFill>
              </a:defRPr>
            </a:pPr>
            <a:r>
              <a:t>5. INTERACTIVE GEOSPATIAL DASHBOARD</a:t>
            </a:r>
          </a:p>
          <a:p>
            <a:pPr>
              <a:defRPr sz="950">
                <a:solidFill>
                  <a:srgbClr val="E2E8F0"/>
                </a:solidFill>
              </a:defRPr>
            </a:pPr>
            <a:r>
              <a:t>Design and deploy a responsive React + MapLibre GL JS intelligence platform with layer toggles, parcel inspection, CSV exports, and analytical charts.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DATA PROVENANCE</a:t>
            </a:r>
          </a:p>
          <a:p>
            <a:pPr>
              <a:spcAft>
                <a:spcPts val="200"/>
              </a:spcAft>
              <a:defRPr sz="2000" b="1">
                <a:solidFill>
                  <a:srgbClr val="FFFFFF"/>
                </a:solidFill>
                <a:latin typeface="Segoe UI"/>
              </a:defRPr>
            </a:pPr>
            <a:r>
              <a:t>Remote Sensing &amp; Reference Data Sources</a:t>
            </a:r>
          </a:p>
          <a:p>
            <a:pPr>
              <a:defRPr sz="1100">
                <a:solidFill>
                  <a:srgbClr val="56B4E9"/>
                </a:solidFill>
                <a:latin typeface="Segoe UI"/>
              </a:defRPr>
            </a:pPr>
            <a:r>
              <a:t>Authoritative Copernicus Sentinel-2 MSI acquisitions and ESA WorldCover 2021</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7 of 25</a:t>
            </a:r>
          </a:p>
        </p:txBody>
      </p:sp>
      <p:sp>
        <p:nvSpPr>
          <p:cNvPr id="5" name="Rounded Rectangle 4"/>
          <p:cNvSpPr/>
          <p:nvPr/>
        </p:nvSpPr>
        <p:spPr>
          <a:xfrm>
            <a:off x="7315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389120"/>
          </a:xfrm>
          <a:prstGeom prst="rect">
            <a:avLst/>
          </a:prstGeom>
          <a:noFill/>
        </p:spPr>
        <p:txBody>
          <a:bodyPr wrap="square">
            <a:spAutoFit/>
          </a:bodyPr>
          <a:lstStyle/>
          <a:p>
            <a:pPr>
              <a:spcAft>
                <a:spcPts val="1000"/>
              </a:spcAft>
              <a:defRPr b="1" sz="1200">
                <a:solidFill>
                  <a:srgbClr val="56B4E9"/>
                </a:solidFill>
              </a:defRPr>
            </a:pPr>
            <a:r>
              <a:t>PRIMARY SENSOR: SENTINEL-2 MSI (LEVEL-2A)</a:t>
            </a:r>
          </a:p>
          <a:p>
            <a:pPr>
              <a:spcAft>
                <a:spcPts val="600"/>
              </a:spcAft>
              <a:defRPr sz="1000">
                <a:solidFill>
                  <a:srgbClr val="E2E8F0"/>
                </a:solidFill>
                <a:latin typeface="Segoe UI"/>
              </a:defRPr>
            </a:pPr>
            <a:r>
              <a:t>•  Provider: European Space Agency (ESA) Copernicus Programme.</a:t>
            </a:r>
          </a:p>
          <a:p>
            <a:pPr>
              <a:spcAft>
                <a:spcPts val="600"/>
              </a:spcAft>
              <a:defRPr sz="1000">
                <a:solidFill>
                  <a:srgbClr val="E2E8F0"/>
                </a:solidFill>
                <a:latin typeface="Segoe UI"/>
              </a:defRPr>
            </a:pPr>
            <a:r>
              <a:t>•  Product Level: Level-2A Bottom-Of-Atmosphere (BOA) surface reflectance with Sen2Cor atmospheric correction.</a:t>
            </a:r>
          </a:p>
          <a:p>
            <a:pPr>
              <a:spcAft>
                <a:spcPts val="600"/>
              </a:spcAft>
              <a:defRPr sz="1000">
                <a:solidFill>
                  <a:srgbClr val="E2E8F0"/>
                </a:solidFill>
                <a:latin typeface="Segoe UI"/>
              </a:defRPr>
            </a:pPr>
            <a:r>
              <a:t>•  Acquisitions Used (3 MGRS Tiles):</a:t>
            </a:r>
          </a:p>
          <a:p>
            <a:pPr>
              <a:spcAft>
                <a:spcPts val="600"/>
              </a:spcAft>
              <a:defRPr sz="1000">
                <a:solidFill>
                  <a:srgbClr val="E2E8F0"/>
                </a:solidFill>
                <a:latin typeface="Segoe UI"/>
              </a:defRPr>
            </a:pPr>
            <a:r>
              <a:t>•    • S2B Tile T43PHK (Acquired: 2026-08-10)</a:t>
            </a:r>
          </a:p>
          <a:p>
            <a:pPr>
              <a:spcAft>
                <a:spcPts val="600"/>
              </a:spcAft>
              <a:defRPr sz="1000">
                <a:solidFill>
                  <a:srgbClr val="E2E8F0"/>
                </a:solidFill>
                <a:latin typeface="Segoe UI"/>
              </a:defRPr>
            </a:pPr>
            <a:r>
              <a:t>•    • S2B Tile T44PKR (Acquired: 2026-08-10)</a:t>
            </a:r>
          </a:p>
          <a:p>
            <a:pPr>
              <a:spcAft>
                <a:spcPts val="600"/>
              </a:spcAft>
              <a:defRPr sz="1000">
                <a:solidFill>
                  <a:srgbClr val="E2E8F0"/>
                </a:solidFill>
                <a:latin typeface="Segoe UI"/>
              </a:defRPr>
            </a:pPr>
            <a:r>
              <a:t>•    • S2C Tile T43PHL (Acquired: 2026-09-04)</a:t>
            </a:r>
          </a:p>
          <a:p>
            <a:pPr>
              <a:spcAft>
                <a:spcPts val="600"/>
              </a:spcAft>
              <a:defRPr sz="1000">
                <a:solidFill>
                  <a:srgbClr val="E2E8F0"/>
                </a:solidFill>
                <a:latin typeface="Segoe UI"/>
              </a:defRPr>
            </a:pPr>
            <a:r>
              <a:t>•  Cloud Cover: Cloud-free over coastal salterns (&lt; 5% scene cloud).</a:t>
            </a:r>
          </a:p>
          <a:p>
            <a:pPr>
              <a:spcAft>
                <a:spcPts val="600"/>
              </a:spcAft>
              <a:defRPr sz="1000">
                <a:solidFill>
                  <a:srgbClr val="E2E8F0"/>
                </a:solidFill>
                <a:latin typeface="Segoe UI"/>
              </a:defRPr>
            </a:pPr>
            <a:r>
              <a:t>•  Spatial Resolution: 10m (VNIR) and 20m (SWIR/RedEdge).</a:t>
            </a:r>
          </a:p>
        </p:txBody>
      </p:sp>
      <p:sp>
        <p:nvSpPr>
          <p:cNvPr id="7" name="Rounded Rectangle 6"/>
          <p:cNvSpPr/>
          <p:nvPr/>
        </p:nvSpPr>
        <p:spPr>
          <a:xfrm>
            <a:off x="62179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1000"/>
              </a:spcAft>
              <a:defRPr b="1" sz="1200">
                <a:solidFill>
                  <a:srgbClr val="F2C94C"/>
                </a:solidFill>
              </a:defRPr>
            </a:pPr>
            <a:r>
              <a:t>REFERENCE &amp; ANCILLARY DATASETS</a:t>
            </a:r>
          </a:p>
          <a:p>
            <a:pPr>
              <a:spcAft>
                <a:spcPts val="600"/>
              </a:spcAft>
              <a:defRPr sz="1000">
                <a:solidFill>
                  <a:srgbClr val="E2E8F0"/>
                </a:solidFill>
                <a:latin typeface="Segoe UI"/>
              </a:defRPr>
            </a:pPr>
            <a:r>
              <a:t>•  ESA WorldCover 2021 (v200):</a:t>
            </a:r>
          </a:p>
          <a:p>
            <a:pPr>
              <a:spcAft>
                <a:spcPts val="600"/>
              </a:spcAft>
              <a:defRPr sz="1000">
                <a:solidFill>
                  <a:srgbClr val="E2E8F0"/>
                </a:solidFill>
                <a:latin typeface="Segoe UI"/>
              </a:defRPr>
            </a:pPr>
            <a:r>
              <a:t>•    • Global 10m land cover product derived from Sentinel-1 &amp; Sentinel-2.</a:t>
            </a:r>
          </a:p>
          <a:p>
            <a:pPr>
              <a:spcAft>
                <a:spcPts val="600"/>
              </a:spcAft>
              <a:defRPr sz="1000">
                <a:solidFill>
                  <a:srgbClr val="E2E8F0"/>
                </a:solidFill>
                <a:latin typeface="Segoe UI"/>
              </a:defRPr>
            </a:pPr>
            <a:r>
              <a:t>•    • Role: Water mask exclusion (Class 80) and spectral context baseline.</a:t>
            </a:r>
          </a:p>
          <a:p>
            <a:pPr>
              <a:spcAft>
                <a:spcPts val="600"/>
              </a:spcAft>
              <a:defRPr sz="1000">
                <a:solidFill>
                  <a:srgbClr val="E2E8F0"/>
                </a:solidFill>
                <a:latin typeface="Segoe UI"/>
              </a:defRPr>
            </a:pPr>
            <a:r>
              <a:t>•    • Note: WorldCover Class 62 is 'Bare/Sparse Vegetation', serving as a candidate proxy, NOT ground truth.</a:t>
            </a:r>
          </a:p>
          <a:p>
            <a:pPr>
              <a:spcAft>
                <a:spcPts val="600"/>
              </a:spcAft>
              <a:defRPr sz="1000">
                <a:solidFill>
                  <a:srgbClr val="E2E8F0"/>
                </a:solidFill>
                <a:latin typeface="Segoe UI"/>
              </a:defRPr>
            </a:pPr>
            <a:r>
              <a:t>•  Administrative Boundary Layer:</a:t>
            </a:r>
          </a:p>
          <a:p>
            <a:pPr>
              <a:spcAft>
                <a:spcPts val="600"/>
              </a:spcAft>
              <a:defRPr sz="1000">
                <a:solidFill>
                  <a:srgbClr val="E2E8F0"/>
                </a:solidFill>
                <a:latin typeface="Segoe UI"/>
              </a:defRPr>
            </a:pPr>
            <a:r>
              <a:t>•    • Survey of India / Tamil Nadu District Boundary.</a:t>
            </a:r>
          </a:p>
          <a:p>
            <a:pPr>
              <a:spcAft>
                <a:spcPts val="600"/>
              </a:spcAft>
              <a:defRPr sz="1000">
                <a:solidFill>
                  <a:srgbClr val="E2E8F0"/>
                </a:solidFill>
                <a:latin typeface="Segoe UI"/>
              </a:defRPr>
            </a:pPr>
            <a:r>
              <a:t>•    • Projected to UTM Zone 43N (EPSG:32643).</a:t>
            </a:r>
          </a:p>
          <a:p>
            <a:pPr>
              <a:spcAft>
                <a:spcPts val="600"/>
              </a:spcAft>
              <a:defRPr sz="1000">
                <a:solidFill>
                  <a:srgbClr val="E2E8F0"/>
                </a:solidFill>
                <a:latin typeface="Segoe UI"/>
              </a:defRPr>
            </a:pPr>
            <a:r>
              <a:t>•    • Enforces strict geometric clipping for all area metrics.</a:t>
            </a:r>
          </a:p>
          <a:p>
            <a:pPr>
              <a:spcAft>
                <a:spcPts val="600"/>
              </a:spcAft>
              <a:defRPr sz="1000">
                <a:solidFill>
                  <a:srgbClr val="E2E8F0"/>
                </a:solidFill>
                <a:latin typeface="Segoe UI"/>
              </a:defRPr>
            </a:pPr>
            <a:r>
              <a:t>•  Reference Training Shapefiles:</a:t>
            </a:r>
          </a:p>
          <a:p>
            <a:pPr>
              <a:spcAft>
                <a:spcPts val="600"/>
              </a:spcAft>
              <a:defRPr sz="1000">
                <a:solidFill>
                  <a:srgbClr val="E2E8F0"/>
                </a:solidFill>
                <a:latin typeface="Segoe UI"/>
              </a:defRPr>
            </a:pPr>
            <a:r>
              <a:t>•    • salt_train_32643.gpkg: 501 salt pan polygons.</a:t>
            </a:r>
          </a:p>
          <a:p>
            <a:pPr>
              <a:spcAft>
                <a:spcPts val="600"/>
              </a:spcAft>
              <a:defRPr sz="1000">
                <a:solidFill>
                  <a:srgbClr val="E2E8F0"/>
                </a:solidFill>
                <a:latin typeface="Segoe UI"/>
              </a:defRPr>
            </a:pPr>
            <a:r>
              <a:t>•    • nonsalt_train_32643.gpkg: 7,925 background polygons.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SENSOR CHARACTERISTICS</a:t>
            </a:r>
          </a:p>
          <a:p>
            <a:pPr>
              <a:spcAft>
                <a:spcPts val="200"/>
              </a:spcAft>
              <a:defRPr sz="2000" b="1">
                <a:solidFill>
                  <a:srgbClr val="FFFFFF"/>
                </a:solidFill>
                <a:latin typeface="Segoe UI"/>
              </a:defRPr>
            </a:pPr>
            <a:r>
              <a:t>Sentinel-2 Spectral Bands for Salt Pan Mapping</a:t>
            </a:r>
          </a:p>
          <a:p>
            <a:pPr>
              <a:defRPr sz="1100">
                <a:solidFill>
                  <a:srgbClr val="56B4E9"/>
                </a:solidFill>
                <a:latin typeface="Segoe UI"/>
              </a:defRPr>
            </a:pPr>
            <a:r>
              <a:t>Physical characteristics of the 6 core spectral bands utilized in the classification pipeline</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8 of 25</a:t>
            </a:r>
          </a:p>
        </p:txBody>
      </p:sp>
      <p:sp>
        <p:nvSpPr>
          <p:cNvPr id="5" name="Rounded Rectangle 4"/>
          <p:cNvSpPr/>
          <p:nvPr/>
        </p:nvSpPr>
        <p:spPr>
          <a:xfrm>
            <a:off x="731520" y="1463040"/>
            <a:ext cx="106984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8_sentinel2_bands_diagram.png"/>
          <p:cNvPicPr>
            <a:picLocks noChangeAspect="1"/>
          </p:cNvPicPr>
          <p:nvPr/>
        </p:nvPicPr>
        <p:blipFill>
          <a:blip r:embed="rId2"/>
          <a:stretch>
            <a:fillRect/>
          </a:stretch>
        </p:blipFill>
        <p:spPr>
          <a:xfrm>
            <a:off x="822960" y="1554480"/>
            <a:ext cx="10515600" cy="4572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SPATIAL PREPROCESSING</a:t>
            </a:r>
          </a:p>
          <a:p>
            <a:pPr>
              <a:spcAft>
                <a:spcPts val="200"/>
              </a:spcAft>
              <a:defRPr sz="2000" b="1">
                <a:solidFill>
                  <a:srgbClr val="FFFFFF"/>
                </a:solidFill>
                <a:latin typeface="Segoe UI"/>
              </a:defRPr>
            </a:pPr>
            <a:r>
              <a:t>GIS Data Preparation &amp; Harmonization Workflow</a:t>
            </a:r>
          </a:p>
          <a:p>
            <a:pPr>
              <a:defRPr sz="1100">
                <a:solidFill>
                  <a:srgbClr val="56B4E9"/>
                </a:solidFill>
                <a:latin typeface="Segoe UI"/>
              </a:defRPr>
            </a:pPr>
            <a:r>
              <a:t>Harmonizing multi-tile satellite scenes, coordinate systems, NoData masks, and raster grids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9 of 25</a:t>
            </a:r>
          </a:p>
        </p:txBody>
      </p:sp>
      <p:sp>
        <p:nvSpPr>
          <p:cNvPr id="5" name="Rounded Rectangle 4"/>
          <p:cNvSpPr/>
          <p:nvPr/>
        </p:nvSpPr>
        <p:spPr>
          <a:xfrm>
            <a:off x="731520" y="1463040"/>
            <a:ext cx="10698480" cy="29260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9_gis_prep_flowchart.png"/>
          <p:cNvPicPr>
            <a:picLocks noChangeAspect="1"/>
          </p:cNvPicPr>
          <p:nvPr/>
        </p:nvPicPr>
        <p:blipFill>
          <a:blip r:embed="rId2"/>
          <a:stretch>
            <a:fillRect/>
          </a:stretch>
        </p:blipFill>
        <p:spPr>
          <a:xfrm>
            <a:off x="822960" y="1554480"/>
            <a:ext cx="10515600" cy="2743200"/>
          </a:xfrm>
          <a:prstGeom prst="rect">
            <a:avLst/>
          </a:prstGeom>
        </p:spPr>
      </p:pic>
      <p:sp>
        <p:nvSpPr>
          <p:cNvPr id="7" name="Rounded Rectangle 6"/>
          <p:cNvSpPr/>
          <p:nvPr/>
        </p:nvSpPr>
        <p:spPr>
          <a:xfrm>
            <a:off x="731520" y="4572000"/>
            <a:ext cx="3383280" cy="164592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663440"/>
            <a:ext cx="3108960" cy="1463040"/>
          </a:xfrm>
          <a:prstGeom prst="rect">
            <a:avLst/>
          </a:prstGeom>
          <a:noFill/>
        </p:spPr>
        <p:txBody>
          <a:bodyPr wrap="square">
            <a:spAutoFit/>
          </a:bodyPr>
          <a:lstStyle/>
          <a:p>
            <a:pPr>
              <a:spcAft>
                <a:spcPts val="400"/>
              </a:spcAft>
              <a:defRPr b="1" sz="1050">
                <a:solidFill>
                  <a:srgbClr val="56B4E9"/>
                </a:solidFill>
              </a:defRPr>
            </a:pPr>
            <a:r>
              <a:t>CRS Standardization (EPSG:32643)</a:t>
            </a:r>
          </a:p>
          <a:p>
            <a:pPr>
              <a:defRPr sz="900">
                <a:solidFill>
                  <a:srgbClr val="E2E8F0"/>
                </a:solidFill>
              </a:defRPr>
            </a:pPr>
            <a:r>
              <a:t>All raster tiles and vector layers reprojected to WGS 84 / UTM Zone 43N to preserve true metric distance (meters) and area (hectares).</a:t>
            </a:r>
          </a:p>
        </p:txBody>
      </p:sp>
      <p:sp>
        <p:nvSpPr>
          <p:cNvPr id="9" name="Rounded Rectangle 8"/>
          <p:cNvSpPr/>
          <p:nvPr/>
        </p:nvSpPr>
        <p:spPr>
          <a:xfrm>
            <a:off x="4389120" y="4572000"/>
            <a:ext cx="3383280" cy="164592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663440"/>
            <a:ext cx="3108960" cy="1463040"/>
          </a:xfrm>
          <a:prstGeom prst="rect">
            <a:avLst/>
          </a:prstGeom>
          <a:noFill/>
        </p:spPr>
        <p:txBody>
          <a:bodyPr wrap="square">
            <a:spAutoFit/>
          </a:bodyPr>
          <a:lstStyle/>
          <a:p>
            <a:pPr>
              <a:spcAft>
                <a:spcPts val="400"/>
              </a:spcAft>
              <a:defRPr b="1" sz="1050">
                <a:solidFill>
                  <a:srgbClr val="F2C94C"/>
                </a:solidFill>
              </a:defRPr>
            </a:pPr>
            <a:r>
              <a:t>Pixel Alignment &amp; Resampling</a:t>
            </a:r>
          </a:p>
          <a:p>
            <a:pPr>
              <a:defRPr sz="900">
                <a:solidFill>
                  <a:srgbClr val="E2E8F0"/>
                </a:solidFill>
              </a:defRPr>
            </a:pPr>
            <a:r>
              <a:t>10m VNIR bands resampled to uniform 20m grid matching SWIR bands (8,491 rows × 10,617 cols = 90,148,947 total pixels).</a:t>
            </a:r>
          </a:p>
        </p:txBody>
      </p:sp>
      <p:sp>
        <p:nvSpPr>
          <p:cNvPr id="11" name="Rounded Rectangle 10"/>
          <p:cNvSpPr/>
          <p:nvPr/>
        </p:nvSpPr>
        <p:spPr>
          <a:xfrm>
            <a:off x="8046720" y="4572000"/>
            <a:ext cx="3383280" cy="164592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4663440"/>
            <a:ext cx="3108960" cy="1463040"/>
          </a:xfrm>
          <a:prstGeom prst="rect">
            <a:avLst/>
          </a:prstGeom>
          <a:noFill/>
        </p:spPr>
        <p:txBody>
          <a:bodyPr wrap="square">
            <a:spAutoFit/>
          </a:bodyPr>
          <a:lstStyle/>
          <a:p>
            <a:pPr>
              <a:spcAft>
                <a:spcPts val="400"/>
              </a:spcAft>
              <a:defRPr b="1" sz="1050">
                <a:solidFill>
                  <a:srgbClr val="48BB78"/>
                </a:solidFill>
              </a:defRPr>
            </a:pPr>
            <a:r>
              <a:t>NoData Accounting</a:t>
            </a:r>
          </a:p>
          <a:p>
            <a:pPr>
              <a:defRPr sz="900">
                <a:solidFill>
                  <a:srgbClr val="E2E8F0"/>
                </a:solidFill>
              </a:defRPr>
            </a:pPr>
            <a:r>
              <a:t>Exact accounting: 52,858,018 valid district pixels (58.63%) and 37,290,929 marine/exterior background pixels (41.37%). 0 NaNs.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FEATURE ENGINEERING</a:t>
            </a:r>
          </a:p>
          <a:p>
            <a:pPr>
              <a:spcAft>
                <a:spcPts val="200"/>
              </a:spcAft>
              <a:defRPr sz="2000" b="1">
                <a:solidFill>
                  <a:srgbClr val="FFFFFF"/>
                </a:solidFill>
                <a:latin typeface="Segoe UI"/>
              </a:defRPr>
            </a:pPr>
            <a:r>
              <a:t>Spectral Feature Engineering &amp; Derived Indices</a:t>
            </a:r>
          </a:p>
          <a:p>
            <a:pPr>
              <a:defRPr sz="1100">
                <a:solidFill>
                  <a:srgbClr val="56B4E9"/>
                </a:solidFill>
                <a:latin typeface="Segoe UI"/>
              </a:defRPr>
            </a:pPr>
            <a:r>
              <a:t>16 engineered spectral features combining surface reflectance and physical index ratios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10 of 25</a:t>
            </a:r>
          </a:p>
        </p:txBody>
      </p:sp>
      <p:sp>
        <p:nvSpPr>
          <p:cNvPr id="5" name="Rounded Rectangle 4"/>
          <p:cNvSpPr/>
          <p:nvPr/>
        </p:nvSpPr>
        <p:spPr>
          <a:xfrm>
            <a:off x="731520" y="1463040"/>
            <a:ext cx="106984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10_spectral_indices_diagram.png"/>
          <p:cNvPicPr>
            <a:picLocks noChangeAspect="1"/>
          </p:cNvPicPr>
          <p:nvPr/>
        </p:nvPicPr>
        <p:blipFill>
          <a:blip r:embed="rId2"/>
          <a:stretch>
            <a:fillRect/>
          </a:stretch>
        </p:blipFill>
        <p:spPr>
          <a:xfrm>
            <a:off x="822960" y="1554480"/>
            <a:ext cx="10515600" cy="4572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GROUND TRUTH &amp; SAMPLING</a:t>
            </a:r>
          </a:p>
          <a:p>
            <a:pPr>
              <a:spcAft>
                <a:spcPts val="200"/>
              </a:spcAft>
              <a:defRPr sz="2000" b="1">
                <a:solidFill>
                  <a:srgbClr val="FFFFFF"/>
                </a:solidFill>
                <a:latin typeface="Segoe UI"/>
              </a:defRPr>
            </a:pPr>
            <a:r>
              <a:t>Reference and Training Dataset Structure</a:t>
            </a:r>
          </a:p>
          <a:p>
            <a:pPr>
              <a:defRPr sz="1100">
                <a:solidFill>
                  <a:srgbClr val="56B4E9"/>
                </a:solidFill>
                <a:latin typeface="Segoe UI"/>
              </a:defRPr>
            </a:pPr>
            <a:r>
              <a:t>Polygon-based training dataset exhibiting extreme class imbalance (15.82 : 1)</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11 of 25</a:t>
            </a:r>
          </a:p>
        </p:txBody>
      </p:sp>
      <p:sp>
        <p:nvSpPr>
          <p:cNvPr id="5" name="Rounded Rectangle 4"/>
          <p:cNvSpPr/>
          <p:nvPr/>
        </p:nvSpPr>
        <p:spPr>
          <a:xfrm>
            <a:off x="7315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389120"/>
          </a:xfrm>
          <a:prstGeom prst="rect">
            <a:avLst/>
          </a:prstGeom>
          <a:noFill/>
        </p:spPr>
        <p:txBody>
          <a:bodyPr wrap="square">
            <a:spAutoFit/>
          </a:bodyPr>
          <a:lstStyle/>
          <a:p>
            <a:pPr>
              <a:spcAft>
                <a:spcPts val="1000"/>
              </a:spcAft>
              <a:defRPr b="1" sz="1300">
                <a:solidFill>
                  <a:srgbClr val="F2C94C"/>
                </a:solidFill>
              </a:defRPr>
            </a:pPr>
            <a:r>
              <a:t>TRAINING DATASET DISSECTION</a:t>
            </a:r>
          </a:p>
          <a:p>
            <a:pPr>
              <a:spcAft>
                <a:spcPts val="1000"/>
              </a:spcAft>
              <a:defRPr sz="1050">
                <a:solidFill>
                  <a:srgbClr val="E2E8F0"/>
                </a:solidFill>
                <a:latin typeface="Segoe UI"/>
              </a:defRPr>
            </a:pPr>
            <a:r>
              <a:t>•  Source Polygons: Digitized from multi-temporal Sentinel-2 high-resolution imagery and verified against QGIS project layers.</a:t>
            </a:r>
          </a:p>
          <a:p>
            <a:pPr>
              <a:spcAft>
                <a:spcPts val="1000"/>
              </a:spcAft>
              <a:defRPr sz="1050">
                <a:solidFill>
                  <a:srgbClr val="E2E8F0"/>
                </a:solidFill>
                <a:latin typeface="Segoe UI"/>
              </a:defRPr>
            </a:pPr>
            <a:r>
              <a:t>•  Salt Pan Class (Class 1): 501 validated salt pan polygons strictly localized along the Thoothukudi coastal belt.</a:t>
            </a:r>
          </a:p>
          <a:p>
            <a:pPr>
              <a:spcAft>
                <a:spcPts val="1000"/>
              </a:spcAft>
              <a:defRPr sz="1050">
                <a:solidFill>
                  <a:srgbClr val="E2E8F0"/>
                </a:solidFill>
                <a:latin typeface="Segoe UI"/>
              </a:defRPr>
            </a:pPr>
            <a:r>
              <a:t>•  Non-Salt Class (Class 0): 7,925 background polygons sampling agriculture, scrubland, water bodies, barren land, and urban areas.</a:t>
            </a:r>
          </a:p>
          <a:p>
            <a:pPr>
              <a:spcAft>
                <a:spcPts val="1000"/>
              </a:spcAft>
              <a:defRPr sz="1050">
                <a:solidFill>
                  <a:srgbClr val="E2E8F0"/>
                </a:solidFill>
                <a:latin typeface="Segoe UI"/>
              </a:defRPr>
            </a:pPr>
            <a:r>
              <a:t>•  Total Polygon Samples: 8,426 samples extracted in `feature_dataset.parquet`.</a:t>
            </a:r>
          </a:p>
          <a:p>
            <a:pPr>
              <a:spcAft>
                <a:spcPts val="1000"/>
              </a:spcAft>
              <a:defRPr sz="1050">
                <a:solidFill>
                  <a:srgbClr val="E2E8F0"/>
                </a:solidFill>
                <a:latin typeface="Segoe UI"/>
              </a:defRPr>
            </a:pPr>
            <a:r>
              <a:t>•  Class Imbalance Ratio: 15.82 : 1 (94.05% non-salt vs 5.95% salt pan).</a:t>
            </a:r>
          </a:p>
          <a:p>
            <a:pPr>
              <a:spcAft>
                <a:spcPts val="1000"/>
              </a:spcAft>
              <a:defRPr sz="1050">
                <a:solidFill>
                  <a:srgbClr val="E2E8F0"/>
                </a:solidFill>
                <a:latin typeface="Segoe UI"/>
              </a:defRPr>
            </a:pPr>
            <a:r>
              <a:t>•  Data Hygiene: 0 missing values (NaNs); median imputation pipeline safeguards all downstream inference.</a:t>
            </a:r>
          </a:p>
        </p:txBody>
      </p:sp>
      <p:sp>
        <p:nvSpPr>
          <p:cNvPr id="7" name="Rounded Rectangle 6"/>
          <p:cNvSpPr/>
          <p:nvPr/>
        </p:nvSpPr>
        <p:spPr>
          <a:xfrm>
            <a:off x="6217920" y="1463040"/>
            <a:ext cx="5212080" cy="4754880"/>
          </a:xfrm>
          <a:prstGeom prst="roundRect">
            <a:avLst/>
          </a:prstGeom>
          <a:solidFill>
            <a:srgbClr val="14181E"/>
          </a:solidFill>
          <a:ln w="1524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1_reference_training_map.png"/>
          <p:cNvPicPr>
            <a:picLocks noChangeAspect="1"/>
          </p:cNvPicPr>
          <p:nvPr/>
        </p:nvPicPr>
        <p:blipFill>
          <a:blip r:embed="rId2"/>
          <a:stretch>
            <a:fillRect/>
          </a:stretch>
        </p:blipFill>
        <p:spPr>
          <a:xfrm>
            <a:off x="6309360" y="1554480"/>
            <a:ext cx="5029200" cy="4572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METHODOLOGICAL FRAMEWORK</a:t>
            </a:r>
          </a:p>
          <a:p>
            <a:pPr>
              <a:spcAft>
                <a:spcPts val="200"/>
              </a:spcAft>
              <a:defRPr sz="2000" b="1">
                <a:solidFill>
                  <a:srgbClr val="FFFFFF"/>
                </a:solidFill>
                <a:latin typeface="Segoe UI"/>
              </a:defRPr>
            </a:pPr>
            <a:r>
              <a:t>End-to-End Methodology Flowchart</a:t>
            </a:r>
          </a:p>
          <a:p>
            <a:pPr>
              <a:defRPr sz="1100">
                <a:solidFill>
                  <a:srgbClr val="56B4E9"/>
                </a:solidFill>
                <a:latin typeface="Segoe UI"/>
              </a:defRPr>
            </a:pPr>
            <a:r>
              <a:t>Three-tier architecture: Ingestion &amp; Preprocessing → ML Benchmarking → District Deployment</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12 of 25</a:t>
            </a:r>
          </a:p>
        </p:txBody>
      </p:sp>
      <p:sp>
        <p:nvSpPr>
          <p:cNvPr id="5" name="Rounded Rectangle 4"/>
          <p:cNvSpPr/>
          <p:nvPr/>
        </p:nvSpPr>
        <p:spPr>
          <a:xfrm>
            <a:off x="731520" y="1463040"/>
            <a:ext cx="106984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12_methodology_flowchart.png"/>
          <p:cNvPicPr>
            <a:picLocks noChangeAspect="1"/>
          </p:cNvPicPr>
          <p:nvPr/>
        </p:nvPicPr>
        <p:blipFill>
          <a:blip r:embed="rId2"/>
          <a:stretch>
            <a:fillRect/>
          </a:stretch>
        </p:blipFill>
        <p:spPr>
          <a:xfrm>
            <a:off x="822960" y="1554480"/>
            <a:ext cx="10515600" cy="4572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SPATIAL FILTERING</a:t>
            </a:r>
          </a:p>
          <a:p>
            <a:pPr>
              <a:spcAft>
                <a:spcPts val="200"/>
              </a:spcAft>
              <a:defRPr sz="2000" b="1">
                <a:solidFill>
                  <a:srgbClr val="FFFFFF"/>
                </a:solidFill>
                <a:latin typeface="Segoe UI"/>
              </a:defRPr>
            </a:pPr>
            <a:r>
              <a:t>Candidate Detection &amp; GIS Spatial Refinement</a:t>
            </a:r>
          </a:p>
          <a:p>
            <a:pPr>
              <a:defRPr sz="1100">
                <a:solidFill>
                  <a:srgbClr val="56B4E9"/>
                </a:solidFill>
                <a:latin typeface="Segoe UI"/>
              </a:defRPr>
            </a:pPr>
            <a:r>
              <a:t>Hierarchical screening, WorldCover exclusion masking, and morphological filtering</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13 of 25</a:t>
            </a:r>
          </a:p>
        </p:txBody>
      </p:sp>
      <p:sp>
        <p:nvSpPr>
          <p:cNvPr id="5" name="Rounded Rectangle 4"/>
          <p:cNvSpPr/>
          <p:nvPr/>
        </p:nvSpPr>
        <p:spPr>
          <a:xfrm>
            <a:off x="731520" y="1463040"/>
            <a:ext cx="106984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536192"/>
            <a:ext cx="10332720" cy="905256"/>
          </a:xfrm>
          <a:prstGeom prst="rect">
            <a:avLst/>
          </a:prstGeom>
          <a:noFill/>
        </p:spPr>
        <p:txBody>
          <a:bodyPr wrap="square">
            <a:spAutoFit/>
          </a:bodyPr>
          <a:lstStyle/>
          <a:p>
            <a:pPr>
              <a:spcAft>
                <a:spcPts val="400"/>
              </a:spcAft>
              <a:defRPr b="1" sz="1100">
                <a:solidFill>
                  <a:srgbClr val="56B4E9"/>
                </a:solidFill>
              </a:defRPr>
            </a:pPr>
            <a:r>
              <a:t>STEP 1: SPECTRAL CANDIDATE SCREENING</a:t>
            </a:r>
          </a:p>
          <a:p>
            <a:pPr>
              <a:spcAft>
                <a:spcPts val="200"/>
              </a:spcAft>
              <a:defRPr sz="950">
                <a:solidFill>
                  <a:srgbClr val="E2E8F0"/>
                </a:solidFill>
                <a:latin typeface="Segoe UI"/>
              </a:defRPr>
            </a:pPr>
            <a:r>
              <a:t>•  Computes dynamic threshold masks combining high SWIR/Blue reflectance with low NDVI (&lt; 0.2).</a:t>
            </a:r>
          </a:p>
          <a:p>
            <a:pPr>
              <a:spcAft>
                <a:spcPts val="200"/>
              </a:spcAft>
              <a:defRPr sz="950">
                <a:solidFill>
                  <a:srgbClr val="E2E8F0"/>
                </a:solidFill>
                <a:latin typeface="Segoe UI"/>
              </a:defRPr>
            </a:pPr>
            <a:r>
              <a:t>•  Identifies potential evaporite crusts and brine ponds across coastal taluks.</a:t>
            </a:r>
          </a:p>
        </p:txBody>
      </p:sp>
      <p:sp>
        <p:nvSpPr>
          <p:cNvPr id="7" name="Rounded Rectangle 6"/>
          <p:cNvSpPr/>
          <p:nvPr/>
        </p:nvSpPr>
        <p:spPr>
          <a:xfrm>
            <a:off x="731520" y="2651760"/>
            <a:ext cx="106984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724912"/>
            <a:ext cx="10332720" cy="905256"/>
          </a:xfrm>
          <a:prstGeom prst="rect">
            <a:avLst/>
          </a:prstGeom>
          <a:noFill/>
        </p:spPr>
        <p:txBody>
          <a:bodyPr wrap="square">
            <a:spAutoFit/>
          </a:bodyPr>
          <a:lstStyle/>
          <a:p>
            <a:pPr>
              <a:spcAft>
                <a:spcPts val="400"/>
              </a:spcAft>
              <a:defRPr b="1" sz="1100">
                <a:solidFill>
                  <a:srgbClr val="3B82F6"/>
                </a:solidFill>
              </a:defRPr>
            </a:pPr>
            <a:r>
              <a:t>STEP 2: LAND-COVER MASKING &amp; WATER EXCLUSION</a:t>
            </a:r>
          </a:p>
          <a:p>
            <a:pPr>
              <a:spcAft>
                <a:spcPts val="200"/>
              </a:spcAft>
              <a:defRPr sz="950">
                <a:solidFill>
                  <a:srgbClr val="E2E8F0"/>
                </a:solidFill>
                <a:latin typeface="Segoe UI"/>
              </a:defRPr>
            </a:pPr>
            <a:r>
              <a:t>•  Applies ESA WorldCover Class 80 mask to exclude open ocean and deep coastal bays.</a:t>
            </a:r>
          </a:p>
          <a:p>
            <a:pPr>
              <a:spcAft>
                <a:spcPts val="200"/>
              </a:spcAft>
              <a:defRPr sz="950">
                <a:solidFill>
                  <a:srgbClr val="E2E8F0"/>
                </a:solidFill>
                <a:latin typeface="Segoe UI"/>
              </a:defRPr>
            </a:pPr>
            <a:r>
              <a:t>•  Cross-references Class 62 (bare/sparse veg) as a candidate proxy, retaining inland salterns.</a:t>
            </a:r>
          </a:p>
        </p:txBody>
      </p:sp>
      <p:sp>
        <p:nvSpPr>
          <p:cNvPr id="9" name="Rounded Rectangle 8"/>
          <p:cNvSpPr/>
          <p:nvPr/>
        </p:nvSpPr>
        <p:spPr>
          <a:xfrm>
            <a:off x="731520" y="3840480"/>
            <a:ext cx="106984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913632"/>
            <a:ext cx="10332720" cy="905256"/>
          </a:xfrm>
          <a:prstGeom prst="rect">
            <a:avLst/>
          </a:prstGeom>
          <a:noFill/>
        </p:spPr>
        <p:txBody>
          <a:bodyPr wrap="square">
            <a:spAutoFit/>
          </a:bodyPr>
          <a:lstStyle/>
          <a:p>
            <a:pPr>
              <a:spcAft>
                <a:spcPts val="400"/>
              </a:spcAft>
              <a:defRPr b="1" sz="1100">
                <a:solidFill>
                  <a:srgbClr val="F2C94C"/>
                </a:solidFill>
              </a:defRPr>
            </a:pPr>
            <a:r>
              <a:t>STEP 3: MORPHOLOGICAL SIEVE FILTERING</a:t>
            </a:r>
          </a:p>
          <a:p>
            <a:pPr>
              <a:spcAft>
                <a:spcPts val="200"/>
              </a:spcAft>
              <a:defRPr sz="950">
                <a:solidFill>
                  <a:srgbClr val="E2E8F0"/>
                </a:solidFill>
                <a:latin typeface="Segoe UI"/>
              </a:defRPr>
            </a:pPr>
            <a:r>
              <a:t>•  Executes raster sieve algorithm with Minimum Mapping Unit (MMU) threshold ≥ 1,000 m² (2.5 pixels).</a:t>
            </a:r>
          </a:p>
          <a:p>
            <a:pPr>
              <a:spcAft>
                <a:spcPts val="200"/>
              </a:spcAft>
              <a:defRPr sz="950">
                <a:solidFill>
                  <a:srgbClr val="E2E8F0"/>
                </a:solidFill>
                <a:latin typeface="Segoe UI"/>
              </a:defRPr>
            </a:pPr>
            <a:r>
              <a:t>•  Removes 2,428 isolated noise pixels (-97.12 ha), eliminating false alarms on sandy beaches.</a:t>
            </a:r>
          </a:p>
        </p:txBody>
      </p:sp>
      <p:sp>
        <p:nvSpPr>
          <p:cNvPr id="11" name="Rounded Rectangle 10"/>
          <p:cNvSpPr/>
          <p:nvPr/>
        </p:nvSpPr>
        <p:spPr>
          <a:xfrm>
            <a:off x="731520" y="5029200"/>
            <a:ext cx="106984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5102352"/>
            <a:ext cx="10332720" cy="905256"/>
          </a:xfrm>
          <a:prstGeom prst="rect">
            <a:avLst/>
          </a:prstGeom>
          <a:noFill/>
        </p:spPr>
        <p:txBody>
          <a:bodyPr wrap="square">
            <a:spAutoFit/>
          </a:bodyPr>
          <a:lstStyle/>
          <a:p>
            <a:pPr>
              <a:spcAft>
                <a:spcPts val="400"/>
              </a:spcAft>
              <a:defRPr b="1" sz="1100">
                <a:solidFill>
                  <a:srgbClr val="48BB78"/>
                </a:solidFill>
              </a:defRPr>
            </a:pPr>
            <a:r>
              <a:t>STEP 4: VECTOR MMU &amp; ADMINISTRATIVE CLIPPING</a:t>
            </a:r>
          </a:p>
          <a:p>
            <a:pPr>
              <a:spcAft>
                <a:spcPts val="200"/>
              </a:spcAft>
              <a:defRPr sz="950">
                <a:solidFill>
                  <a:srgbClr val="E2E8F0"/>
                </a:solidFill>
                <a:latin typeface="Segoe UI"/>
              </a:defRPr>
            </a:pPr>
            <a:r>
              <a:t>•  Converts cleaned raster to vector polygons; filters sub-MMU polygon slivers (&lt; 1,000 m²).</a:t>
            </a:r>
          </a:p>
          <a:p>
            <a:pPr>
              <a:spcAft>
                <a:spcPts val="200"/>
              </a:spcAft>
              <a:defRPr sz="950">
                <a:solidFill>
                  <a:srgbClr val="E2E8F0"/>
                </a:solidFill>
                <a:latin typeface="Segoe UI"/>
              </a:defRPr>
            </a:pPr>
            <a:r>
              <a:t>•  Clips strictly to Thoothukudi administrative boundary, purging 627 out-of-district polygons.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MODEL BENCHMARKING</a:t>
            </a:r>
          </a:p>
          <a:p>
            <a:pPr>
              <a:spcAft>
                <a:spcPts val="200"/>
              </a:spcAft>
              <a:defRPr sz="2000" b="1">
                <a:solidFill>
                  <a:srgbClr val="FFFFFF"/>
                </a:solidFill>
                <a:latin typeface="Segoe UI"/>
              </a:defRPr>
            </a:pPr>
            <a:r>
              <a:t>Machine-Learning Algorithm Families Evaluated</a:t>
            </a:r>
          </a:p>
          <a:p>
            <a:pPr>
              <a:defRPr sz="1100">
                <a:solidFill>
                  <a:srgbClr val="56B4E9"/>
                </a:solidFill>
                <a:latin typeface="Segoe UI"/>
              </a:defRPr>
            </a:pPr>
            <a:r>
              <a:t>Comparative evaluation of 7 supervised learning architectures for coastal saltern mapping</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14 of 25</a:t>
            </a:r>
          </a:p>
        </p:txBody>
      </p:sp>
      <p:sp>
        <p:nvSpPr>
          <p:cNvPr id="5" name="Rounded Rectangle 4"/>
          <p:cNvSpPr/>
          <p:nvPr/>
        </p:nvSpPr>
        <p:spPr>
          <a:xfrm>
            <a:off x="731520" y="1463040"/>
            <a:ext cx="52120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36192"/>
            <a:ext cx="4937760" cy="905256"/>
          </a:xfrm>
          <a:prstGeom prst="rect">
            <a:avLst/>
          </a:prstGeom>
          <a:noFill/>
        </p:spPr>
        <p:txBody>
          <a:bodyPr wrap="square">
            <a:spAutoFit/>
          </a:bodyPr>
          <a:lstStyle/>
          <a:p>
            <a:pPr>
              <a:spcAft>
                <a:spcPts val="200"/>
              </a:spcAft>
              <a:defRPr b="1" sz="1050">
                <a:solidFill>
                  <a:srgbClr val="C08BF0"/>
                </a:solidFill>
              </a:defRPr>
            </a:pPr>
            <a:r>
              <a:t>SUPPORT VECTOR MACHINE (RBF)</a:t>
            </a:r>
          </a:p>
          <a:p>
            <a:pPr>
              <a:defRPr sz="850">
                <a:solidFill>
                  <a:srgbClr val="E2E8F0"/>
                </a:solidFill>
              </a:defRPr>
            </a:pPr>
            <a:r>
              <a:t>Non-linear kernel mapping input features into infinite-dimensional Hilbert space. Top performer on F1 (0.8889) with 1,152 support vectors.</a:t>
            </a:r>
          </a:p>
        </p:txBody>
      </p:sp>
      <p:sp>
        <p:nvSpPr>
          <p:cNvPr id="7" name="Rounded Rectangle 6"/>
          <p:cNvSpPr/>
          <p:nvPr/>
        </p:nvSpPr>
        <p:spPr>
          <a:xfrm>
            <a:off x="731520" y="2651760"/>
            <a:ext cx="52120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2724912"/>
            <a:ext cx="4937760" cy="905256"/>
          </a:xfrm>
          <a:prstGeom prst="rect">
            <a:avLst/>
          </a:prstGeom>
          <a:noFill/>
        </p:spPr>
        <p:txBody>
          <a:bodyPr wrap="square">
            <a:spAutoFit/>
          </a:bodyPr>
          <a:lstStyle/>
          <a:p>
            <a:pPr>
              <a:spcAft>
                <a:spcPts val="200"/>
              </a:spcAft>
              <a:defRPr b="1" sz="1050">
                <a:solidFill>
                  <a:srgbClr val="F2C94C"/>
                </a:solidFill>
              </a:defRPr>
            </a:pPr>
            <a:r>
              <a:t>RANDOM FOREST (300 TREES)</a:t>
            </a:r>
          </a:p>
          <a:p>
            <a:pPr>
              <a:defRPr sz="850">
                <a:solidFill>
                  <a:srgbClr val="E2E8F0"/>
                </a:solidFill>
              </a:defRPr>
            </a:pPr>
            <a:r>
              <a:t>Ensemble of decorrelated decision trees with balanced subsampling. Production model for district raster inference due to parallel scalability.</a:t>
            </a:r>
          </a:p>
        </p:txBody>
      </p:sp>
      <p:sp>
        <p:nvSpPr>
          <p:cNvPr id="9" name="Rounded Rectangle 8"/>
          <p:cNvSpPr/>
          <p:nvPr/>
        </p:nvSpPr>
        <p:spPr>
          <a:xfrm>
            <a:off x="731520" y="3840480"/>
            <a:ext cx="52120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3913632"/>
            <a:ext cx="4937760" cy="905256"/>
          </a:xfrm>
          <a:prstGeom prst="rect">
            <a:avLst/>
          </a:prstGeom>
          <a:noFill/>
        </p:spPr>
        <p:txBody>
          <a:bodyPr wrap="square">
            <a:spAutoFit/>
          </a:bodyPr>
          <a:lstStyle/>
          <a:p>
            <a:pPr>
              <a:spcAft>
                <a:spcPts val="200"/>
              </a:spcAft>
              <a:defRPr b="1" sz="1050">
                <a:solidFill>
                  <a:srgbClr val="F2C94C"/>
                </a:solidFill>
              </a:defRPr>
            </a:pPr>
            <a:r>
              <a:t>EXTRA TREES (300 TREES)</a:t>
            </a:r>
          </a:p>
          <a:p>
            <a:pPr>
              <a:defRPr sz="850">
                <a:solidFill>
                  <a:srgbClr val="E2E8F0"/>
                </a:solidFill>
              </a:defRPr>
            </a:pPr>
            <a:r>
              <a:t>Extremely randomized trees with random cut-point selection. Tied with Random Forest at 0.7500 F1 on spatial holdout.</a:t>
            </a:r>
          </a:p>
        </p:txBody>
      </p:sp>
      <p:sp>
        <p:nvSpPr>
          <p:cNvPr id="11" name="Rounded Rectangle 10"/>
          <p:cNvSpPr/>
          <p:nvPr/>
        </p:nvSpPr>
        <p:spPr>
          <a:xfrm>
            <a:off x="731520" y="5029200"/>
            <a:ext cx="52120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5102352"/>
            <a:ext cx="4937760" cy="905256"/>
          </a:xfrm>
          <a:prstGeom prst="rect">
            <a:avLst/>
          </a:prstGeom>
          <a:noFill/>
        </p:spPr>
        <p:txBody>
          <a:bodyPr wrap="square">
            <a:spAutoFit/>
          </a:bodyPr>
          <a:lstStyle/>
          <a:p>
            <a:pPr>
              <a:spcAft>
                <a:spcPts val="200"/>
              </a:spcAft>
              <a:defRPr b="1" sz="1050">
                <a:solidFill>
                  <a:srgbClr val="56B4E9"/>
                </a:solidFill>
              </a:defRPr>
            </a:pPr>
            <a:r>
              <a:t>GRADIENT BOOSTING (SKLEARN)</a:t>
            </a:r>
          </a:p>
          <a:p>
            <a:pPr>
              <a:defRPr sz="850">
                <a:solidFill>
                  <a:srgbClr val="E2E8F0"/>
                </a:solidFill>
              </a:defRPr>
            </a:pPr>
            <a:r>
              <a:t>Sequential boosting minimizing deviance loss. Achieved 100% precision but lower recall (40.0%) on the minority salt pan class.</a:t>
            </a:r>
          </a:p>
        </p:txBody>
      </p:sp>
      <p:sp>
        <p:nvSpPr>
          <p:cNvPr id="13" name="Rounded Rectangle 12"/>
          <p:cNvSpPr/>
          <p:nvPr/>
        </p:nvSpPr>
        <p:spPr>
          <a:xfrm>
            <a:off x="6217920" y="1463040"/>
            <a:ext cx="52120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536192"/>
            <a:ext cx="4937760" cy="905256"/>
          </a:xfrm>
          <a:prstGeom prst="rect">
            <a:avLst/>
          </a:prstGeom>
          <a:noFill/>
        </p:spPr>
        <p:txBody>
          <a:bodyPr wrap="square">
            <a:spAutoFit/>
          </a:bodyPr>
          <a:lstStyle/>
          <a:p>
            <a:pPr>
              <a:spcAft>
                <a:spcPts val="200"/>
              </a:spcAft>
              <a:defRPr b="1" sz="1050">
                <a:solidFill>
                  <a:srgbClr val="56B4E9"/>
                </a:solidFill>
              </a:defRPr>
            </a:pPr>
            <a:r>
              <a:t>XGBOOST CLASSIFIER</a:t>
            </a:r>
          </a:p>
          <a:p>
            <a:pPr>
              <a:defRPr sz="850">
                <a:solidFill>
                  <a:srgbClr val="E2E8F0"/>
                </a:solidFill>
              </a:defRPr>
            </a:pPr>
            <a:r>
              <a:t>Scalable gradient tree boosting with scale_pos_weight parameter. Matched Gradient Boosting with 0.5714 F1 and 100% precision.</a:t>
            </a:r>
          </a:p>
        </p:txBody>
      </p:sp>
      <p:sp>
        <p:nvSpPr>
          <p:cNvPr id="15" name="Rounded Rectangle 14"/>
          <p:cNvSpPr/>
          <p:nvPr/>
        </p:nvSpPr>
        <p:spPr>
          <a:xfrm>
            <a:off x="6217920" y="2651760"/>
            <a:ext cx="52120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2724912"/>
            <a:ext cx="4937760" cy="905256"/>
          </a:xfrm>
          <a:prstGeom prst="rect">
            <a:avLst/>
          </a:prstGeom>
          <a:noFill/>
        </p:spPr>
        <p:txBody>
          <a:bodyPr wrap="square">
            <a:spAutoFit/>
          </a:bodyPr>
          <a:lstStyle/>
          <a:p>
            <a:pPr>
              <a:spcAft>
                <a:spcPts val="200"/>
              </a:spcAft>
              <a:defRPr b="1" sz="1050">
                <a:solidFill>
                  <a:srgbClr val="94A3B8"/>
                </a:solidFill>
              </a:defRPr>
            </a:pPr>
            <a:r>
              <a:t>LOGISTIC REGRESSION</a:t>
            </a:r>
          </a:p>
          <a:p>
            <a:pPr>
              <a:defRPr sz="850">
                <a:solidFill>
                  <a:srgbClr val="E2E8F0"/>
                </a:solidFill>
              </a:defRPr>
            </a:pPr>
            <a:r>
              <a:t>L2-regularized linear baseline with balanced class weights. High recall (80%) but poor precision (40%), generating 6 false alarms.</a:t>
            </a:r>
          </a:p>
        </p:txBody>
      </p:sp>
      <p:sp>
        <p:nvSpPr>
          <p:cNvPr id="17" name="Rounded Rectangle 16"/>
          <p:cNvSpPr/>
          <p:nvPr/>
        </p:nvSpPr>
        <p:spPr>
          <a:xfrm>
            <a:off x="6217920" y="3840480"/>
            <a:ext cx="5212080" cy="10515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55080" y="3913632"/>
            <a:ext cx="4937760" cy="905256"/>
          </a:xfrm>
          <a:prstGeom prst="rect">
            <a:avLst/>
          </a:prstGeom>
          <a:noFill/>
        </p:spPr>
        <p:txBody>
          <a:bodyPr wrap="square">
            <a:spAutoFit/>
          </a:bodyPr>
          <a:lstStyle/>
          <a:p>
            <a:pPr>
              <a:spcAft>
                <a:spcPts val="200"/>
              </a:spcAft>
              <a:defRPr b="1" sz="1050">
                <a:solidFill>
                  <a:srgbClr val="94A3B8"/>
                </a:solidFill>
              </a:defRPr>
            </a:pPr>
            <a:r>
              <a:t>QUADRATIC DISCRIMINANT (QDA)</a:t>
            </a:r>
          </a:p>
          <a:p>
            <a:pPr>
              <a:defRPr sz="850">
                <a:solidFill>
                  <a:srgbClr val="E2E8F0"/>
                </a:solidFill>
              </a:defRPr>
            </a:pPr>
            <a:r>
              <a:t>Parametric Gaussian generative classifier with separate covariance per class. Lowest F1 (0.4000) due to 7 false positives.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EXPERIMENTAL DESIGN</a:t>
            </a:r>
          </a:p>
          <a:p>
            <a:pPr>
              <a:spcAft>
                <a:spcPts val="200"/>
              </a:spcAft>
              <a:defRPr sz="2000" b="1">
                <a:solidFill>
                  <a:srgbClr val="FFFFFF"/>
                </a:solidFill>
                <a:latin typeface="Segoe UI"/>
              </a:defRPr>
            </a:pPr>
            <a:r>
              <a:t>Training &amp; Validation Strategy: Spatial Block Holdout</a:t>
            </a:r>
          </a:p>
          <a:p>
            <a:pPr>
              <a:defRPr sz="1100">
                <a:solidFill>
                  <a:srgbClr val="56B4E9"/>
                </a:solidFill>
                <a:latin typeface="Segoe UI"/>
              </a:defRPr>
            </a:pPr>
            <a:r>
              <a:t>Methodological design, spatial partitioning, and documented evaluation caveats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15 of 25</a:t>
            </a:r>
          </a:p>
        </p:txBody>
      </p:sp>
      <p:sp>
        <p:nvSpPr>
          <p:cNvPr id="5" name="Rounded Rectangle 4"/>
          <p:cNvSpPr/>
          <p:nvPr/>
        </p:nvSpPr>
        <p:spPr>
          <a:xfrm>
            <a:off x="7315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389120"/>
          </a:xfrm>
          <a:prstGeom prst="rect">
            <a:avLst/>
          </a:prstGeom>
          <a:noFill/>
        </p:spPr>
        <p:txBody>
          <a:bodyPr wrap="square">
            <a:spAutoFit/>
          </a:bodyPr>
          <a:lstStyle/>
          <a:p>
            <a:pPr>
              <a:spcAft>
                <a:spcPts val="1000"/>
              </a:spcAft>
              <a:defRPr b="1" sz="1300">
                <a:solidFill>
                  <a:srgbClr val="F2C94C"/>
                </a:solidFill>
              </a:defRPr>
            </a:pPr>
            <a:r>
              <a:t>SPATIAL HOLDOUT ARCHITECTURE</a:t>
            </a:r>
          </a:p>
          <a:p>
            <a:pPr>
              <a:spcAft>
                <a:spcPts val="1000"/>
              </a:spcAft>
              <a:defRPr sz="1050">
                <a:solidFill>
                  <a:srgbClr val="E2E8F0"/>
                </a:solidFill>
                <a:latin typeface="Segoe UI"/>
              </a:defRPr>
            </a:pPr>
            <a:r>
              <a:t>•  Spatial Partitioning: Polygons assigned to a 5×5 spatial block grid across Thoothukudi district based on centroids.</a:t>
            </a:r>
          </a:p>
          <a:p>
            <a:pPr>
              <a:spcAft>
                <a:spcPts val="1000"/>
              </a:spcAft>
              <a:defRPr sz="1050">
                <a:solidFill>
                  <a:srgbClr val="E2E8F0"/>
                </a:solidFill>
                <a:latin typeface="Segoe UI"/>
              </a:defRPr>
            </a:pPr>
            <a:r>
              <a:t>•  Split Allocation: ~20% of geographic blocks designated as holdout (8,220 train vs 206 holdout samples).</a:t>
            </a:r>
          </a:p>
          <a:p>
            <a:pPr>
              <a:spcAft>
                <a:spcPts val="1000"/>
              </a:spcAft>
              <a:defRPr sz="1050">
                <a:solidFill>
                  <a:srgbClr val="E2E8F0"/>
                </a:solidFill>
                <a:latin typeface="Segoe UI"/>
              </a:defRPr>
            </a:pPr>
            <a:r>
              <a:t>•  Pipeline Isolation: SimpleImputer (median) and RobustScaler strictly fitted on training splits only. Zero data leakage.</a:t>
            </a:r>
          </a:p>
          <a:p>
            <a:pPr>
              <a:spcAft>
                <a:spcPts val="1000"/>
              </a:spcAft>
              <a:defRPr sz="1050">
                <a:solidFill>
                  <a:srgbClr val="E2E8F0"/>
                </a:solidFill>
                <a:latin typeface="Segoe UI"/>
              </a:defRPr>
            </a:pPr>
            <a:r>
              <a:t>•  Cross-Validation: 5-fold StratifiedGroupKFold on training split for hyperparameter tuning.</a:t>
            </a:r>
          </a:p>
        </p:txBody>
      </p:sp>
      <p:sp>
        <p:nvSpPr>
          <p:cNvPr id="7" name="Rounded Rectangle 6"/>
          <p:cNvSpPr/>
          <p:nvPr/>
        </p:nvSpPr>
        <p:spPr>
          <a:xfrm>
            <a:off x="62179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1000"/>
              </a:spcAft>
              <a:defRPr b="1" sz="1300">
                <a:solidFill>
                  <a:srgbClr val="C08BF0"/>
                </a:solidFill>
              </a:defRPr>
            </a:pPr>
            <a:r>
              <a:t>DOCUMENTED AUDIT CAVEAT</a:t>
            </a:r>
          </a:p>
          <a:p>
            <a:pPr>
              <a:spcAft>
                <a:spcPts val="800"/>
              </a:spcAft>
              <a:defRPr sz="1050">
                <a:solidFill>
                  <a:srgbClr val="E2E8F0"/>
                </a:solidFill>
                <a:latin typeface="Segoe UI"/>
              </a:defRPr>
            </a:pPr>
            <a:r>
              <a:t>•  Minority Class Backfill: Initial random spatial blocks (0, 1, 10, 16) were inland and contained zero salt pans.</a:t>
            </a:r>
          </a:p>
          <a:p>
            <a:pPr>
              <a:spcAft>
                <a:spcPts val="800"/>
              </a:spcAft>
              <a:defRPr sz="1050">
                <a:solidFill>
                  <a:srgbClr val="E2E8F0"/>
                </a:solidFill>
                <a:latin typeface="Segoe UI"/>
              </a:defRPr>
            </a:pPr>
            <a:r>
              <a:t>•  To enable holdout evaluation, 5 salt pan polygons were backfilled into holdout blocks (blocks 7, 13, 23).</a:t>
            </a:r>
          </a:p>
          <a:p>
            <a:pPr>
              <a:spcAft>
                <a:spcPts val="800"/>
              </a:spcAft>
              <a:defRPr sz="1050">
                <a:solidFill>
                  <a:srgbClr val="E2E8F0"/>
                </a:solidFill>
                <a:latin typeface="Segoe UI"/>
              </a:defRPr>
            </a:pPr>
            <a:r>
              <a:t>•  Result: Blocks 7, 13, and 23 contain both train and holdout samples (though polygon geometries never cross splits).</a:t>
            </a:r>
          </a:p>
          <a:p>
            <a:pPr>
              <a:spcAft>
                <a:spcPts val="800"/>
              </a:spcAft>
              <a:defRPr sz="1050">
                <a:solidFill>
                  <a:srgbClr val="E2E8F0"/>
                </a:solidFill>
                <a:latin typeface="Segoe UI"/>
              </a:defRPr>
            </a:pPr>
            <a:r>
              <a:t>•  Scientific Honesty: This evaluation represents a polygon-grouped holdout with geographic blocking, not a completely disjoint regional partition.</a:t>
            </a:r>
          </a:p>
          <a:p>
            <a:pPr>
              <a:spcAft>
                <a:spcPts val="800"/>
              </a:spcAft>
              <a:defRPr sz="1050">
                <a:solidFill>
                  <a:srgbClr val="E2E8F0"/>
                </a:solidFill>
                <a:latin typeface="Segoe UI"/>
              </a:defRPr>
            </a:pPr>
            <a:r>
              <a:t>•  Holdout Sample Size: N = 206 (201 Non-Salt, 5 Salt Pan polygons).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EVALUATION FRAMEWORK</a:t>
            </a:r>
          </a:p>
          <a:p>
            <a:pPr>
              <a:spcAft>
                <a:spcPts val="200"/>
              </a:spcAft>
              <a:defRPr sz="2000" b="1">
                <a:solidFill>
                  <a:srgbClr val="FFFFFF"/>
                </a:solidFill>
                <a:latin typeface="Segoe UI"/>
              </a:defRPr>
            </a:pPr>
            <a:r>
              <a:t>Evaluation Metrics for Imbalanced Classification</a:t>
            </a:r>
          </a:p>
          <a:p>
            <a:pPr>
              <a:defRPr sz="1100">
                <a:solidFill>
                  <a:srgbClr val="56B4E9"/>
                </a:solidFill>
                <a:latin typeface="Segoe UI"/>
              </a:defRPr>
            </a:pPr>
            <a:r>
              <a:t>Why overall accuracy is deceptive and salt-pan F1-score is the authoritative benchmark</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16 of 25</a:t>
            </a:r>
          </a:p>
        </p:txBody>
      </p:sp>
      <p:sp>
        <p:nvSpPr>
          <p:cNvPr id="5" name="Rounded Rectangle 4"/>
          <p:cNvSpPr/>
          <p:nvPr/>
        </p:nvSpPr>
        <p:spPr>
          <a:xfrm>
            <a:off x="731520" y="1463040"/>
            <a:ext cx="106984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16_metrics_formulas_diagram.png"/>
          <p:cNvPicPr>
            <a:picLocks noChangeAspect="1"/>
          </p:cNvPicPr>
          <p:nvPr/>
        </p:nvPicPr>
        <p:blipFill>
          <a:blip r:embed="rId2"/>
          <a:stretch>
            <a:fillRect/>
          </a:stretch>
        </p:blipFill>
        <p:spPr>
          <a:xfrm>
            <a:off x="822960" y="1554480"/>
            <a:ext cx="10515600" cy="4572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BENCHMARK COMPARISON</a:t>
            </a:r>
          </a:p>
          <a:p>
            <a:pPr>
              <a:spcAft>
                <a:spcPts val="200"/>
              </a:spcAft>
              <a:defRPr sz="2000" b="1">
                <a:solidFill>
                  <a:srgbClr val="FFFFFF"/>
                </a:solidFill>
                <a:latin typeface="Segoe UI"/>
              </a:defRPr>
            </a:pPr>
            <a:r>
              <a:t>Multi-Algorithm Benchmark Results (N=206)</a:t>
            </a:r>
          </a:p>
          <a:p>
            <a:pPr>
              <a:defRPr sz="1100">
                <a:solidFill>
                  <a:srgbClr val="56B4E9"/>
                </a:solidFill>
                <a:latin typeface="Segoe UI"/>
              </a:defRPr>
            </a:pPr>
            <a:r>
              <a:t>Verified performance comparison across all 7 evaluated machine learning architectures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17 of 25</a:t>
            </a:r>
          </a:p>
        </p:txBody>
      </p:sp>
      <p:sp>
        <p:nvSpPr>
          <p:cNvPr id="5" name="Rounded Rectangle 4"/>
          <p:cNvSpPr/>
          <p:nvPr/>
        </p:nvSpPr>
        <p:spPr>
          <a:xfrm>
            <a:off x="731520" y="1463040"/>
            <a:ext cx="10698480" cy="310896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17_benchmark_chart.png"/>
          <p:cNvPicPr>
            <a:picLocks noChangeAspect="1"/>
          </p:cNvPicPr>
          <p:nvPr/>
        </p:nvPicPr>
        <p:blipFill>
          <a:blip r:embed="rId2"/>
          <a:stretch>
            <a:fillRect/>
          </a:stretch>
        </p:blipFill>
        <p:spPr>
          <a:xfrm>
            <a:off x="822960" y="1554480"/>
            <a:ext cx="10515600" cy="2926080"/>
          </a:xfrm>
          <a:prstGeom prst="rect">
            <a:avLst/>
          </a:prstGeom>
        </p:spPr>
      </p:pic>
      <p:sp>
        <p:nvSpPr>
          <p:cNvPr id="7" name="Rounded Rectangle 6"/>
          <p:cNvSpPr/>
          <p:nvPr/>
        </p:nvSpPr>
        <p:spPr>
          <a:xfrm>
            <a:off x="731520" y="4663440"/>
            <a:ext cx="10698480" cy="164592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4709160"/>
            <a:ext cx="10332720" cy="1554480"/>
          </a:xfrm>
          <a:prstGeom prst="rect">
            <a:avLst/>
          </a:prstGeom>
          <a:noFill/>
        </p:spPr>
        <p:txBody>
          <a:bodyPr wrap="square">
            <a:spAutoFit/>
          </a:bodyPr>
          <a:lstStyle/>
          <a:p>
            <a:pPr>
              <a:spcAft>
                <a:spcPts val="400"/>
              </a:spcAft>
              <a:defRPr b="1" sz="950">
                <a:solidFill>
                  <a:srgbClr val="F2C94C"/>
                </a:solidFill>
              </a:defRPr>
            </a:pPr>
            <a:r>
              <a:t>VERIFIED HOLDOUT BENCHMARK TABLE (Source: `outputs/ml_benchmark/results/model_comparison.csv`)</a:t>
            </a:r>
          </a:p>
          <a:p>
            <a:pPr>
              <a:defRPr sz="850">
                <a:solidFill>
                  <a:srgbClr val="FFFFFF"/>
                </a:solidFill>
                <a:latin typeface="Consolas"/>
              </a:defRPr>
            </a:pPr>
            <a:r>
              <a:t>Model Architecture        | Accuracy | Bal. Acc | Salt Precision | Salt Recall | Salt F1-Score | ROC-AUC</a:t>
            </a:r>
            <a:br/>
            <a:r>
              <a:t>─────────────────────────────────────────────────────────────────────────────────────────────────</a:t>
            </a:r>
            <a:br/>
            <a:r>
              <a:t>1. SVM (RBF Kernel)       |  99.51%  |  90.00%  |     100.0%     |    80.0%    |    0.8889     |  0.999 </a:t>
            </a:r>
            <a:br/>
            <a:r>
              <a:t>2. Random Forest          |  99.03%  |  80.00%  |     100.0%     |    60.0%    |    0.7500     |  1.000 </a:t>
            </a:r>
            <a:br/>
            <a:r>
              <a:t>3. Extra Trees            |  99.03%  |  80.00%  |     100.0%     |    60.0%    |    0.7500     |  1.000 </a:t>
            </a:r>
            <a:br/>
            <a:r>
              <a:t>4. Gradient Boosting      |  98.54%  |  70.00%  |     100.0%     |    40.0%    |    0.5714     |  1.000 </a:t>
            </a:r>
            <a:br/>
            <a:r>
              <a:t>5. XGBoost                |  98.54%  |  70.00%  |     100.0%     |    40.0%    |    0.5714     |  1.000 </a:t>
            </a:r>
            <a:br/>
            <a:r>
              <a:t>6. Logistic Regression    |  96.60%  |  88.50%  |      40.0%     |    80.0%    |    0.5333     |  0.992 </a:t>
            </a:r>
            <a:br/>
            <a:r>
              <a:t>7. QDA                    |  95.63%  |  78.30%  |      30.0%     |    60.0%    |    0.4000     |  0.963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WINNING BENCHMARK</a:t>
            </a:r>
          </a:p>
          <a:p>
            <a:pPr>
              <a:spcAft>
                <a:spcPts val="200"/>
              </a:spcAft>
              <a:defRPr sz="2000" b="1">
                <a:solidFill>
                  <a:srgbClr val="FFFFFF"/>
                </a:solidFill>
                <a:latin typeface="Segoe UI"/>
              </a:defRPr>
            </a:pPr>
            <a:r>
              <a:t>Best Defensible Model: SVM (RBF Kernel)</a:t>
            </a:r>
          </a:p>
          <a:p>
            <a:pPr>
              <a:defRPr sz="1100">
                <a:solidFill>
                  <a:srgbClr val="56B4E9"/>
                </a:solidFill>
                <a:latin typeface="Segoe UI"/>
              </a:defRPr>
            </a:pPr>
            <a:r>
              <a:t>Analysis of the top-performing holdout classifier and its error contingency matrix</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18 of 25</a:t>
            </a:r>
          </a:p>
        </p:txBody>
      </p:sp>
      <p:sp>
        <p:nvSpPr>
          <p:cNvPr id="5" name="Rounded Rectangle 4"/>
          <p:cNvSpPr/>
          <p:nvPr/>
        </p:nvSpPr>
        <p:spPr>
          <a:xfrm>
            <a:off x="7315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389120"/>
          </a:xfrm>
          <a:prstGeom prst="rect">
            <a:avLst/>
          </a:prstGeom>
          <a:noFill/>
        </p:spPr>
        <p:txBody>
          <a:bodyPr wrap="square">
            <a:spAutoFit/>
          </a:bodyPr>
          <a:lstStyle/>
          <a:p>
            <a:pPr>
              <a:spcAft>
                <a:spcPts val="1000"/>
              </a:spcAft>
              <a:defRPr b="1" sz="1300">
                <a:solidFill>
                  <a:srgbClr val="C08BF0"/>
                </a:solidFill>
              </a:defRPr>
            </a:pPr>
            <a:r>
              <a:t>SVM (RBF KERNEL) SPECIFICATION</a:t>
            </a:r>
          </a:p>
          <a:p>
            <a:pPr>
              <a:spcAft>
                <a:spcPts val="800"/>
              </a:spcAft>
              <a:defRPr sz="1000">
                <a:solidFill>
                  <a:srgbClr val="E2E8F0"/>
                </a:solidFill>
                <a:latin typeface="Segoe UI"/>
              </a:defRPr>
            </a:pPr>
            <a:r>
              <a:t>•  Architecture: Support Vector Classifier with Radial Basis Function kernel (SVC, C=1.0, gamma='scale').</a:t>
            </a:r>
          </a:p>
          <a:p>
            <a:pPr>
              <a:spcAft>
                <a:spcPts val="800"/>
              </a:spcAft>
              <a:defRPr sz="1000">
                <a:solidFill>
                  <a:srgbClr val="E2E8F0"/>
                </a:solidFill>
                <a:latin typeface="Segoe UI"/>
              </a:defRPr>
            </a:pPr>
            <a:r>
              <a:t>•  Class Balancing: `class_weight='balanced'` penalizing minority salt pan misclassifications.</a:t>
            </a:r>
          </a:p>
          <a:p>
            <a:pPr>
              <a:spcAft>
                <a:spcPts val="800"/>
              </a:spcAft>
              <a:defRPr sz="1000">
                <a:solidFill>
                  <a:srgbClr val="E2E8F0"/>
                </a:solidFill>
                <a:latin typeface="Segoe UI"/>
              </a:defRPr>
            </a:pPr>
            <a:r>
              <a:t>•  Pipeline Integration: `RobustScaler` (interquartile scaling) to withstand extreme salt crust reflectance outliers.</a:t>
            </a:r>
          </a:p>
          <a:p>
            <a:pPr>
              <a:spcAft>
                <a:spcPts val="800"/>
              </a:spcAft>
              <a:defRPr sz="1000">
                <a:solidFill>
                  <a:srgbClr val="E2E8F0"/>
                </a:solidFill>
                <a:latin typeface="Segoe UI"/>
              </a:defRPr>
            </a:pPr>
            <a:r>
              <a:t>•  Support Vectors: Fitted with 1,152 support vectors delineating the non-linear decision boundary.</a:t>
            </a:r>
          </a:p>
          <a:p>
            <a:pPr>
              <a:spcAft>
                <a:spcPts val="800"/>
              </a:spcAft>
              <a:defRPr sz="1000">
                <a:solidFill>
                  <a:srgbClr val="E2E8F0"/>
                </a:solidFill>
                <a:latin typeface="Segoe UI"/>
              </a:defRPr>
            </a:pPr>
            <a:r>
              <a:t>•  Holdout Accuracy: 99.51% (205 out of 206 correct predictions).</a:t>
            </a:r>
          </a:p>
          <a:p>
            <a:pPr>
              <a:spcAft>
                <a:spcPts val="800"/>
              </a:spcAft>
              <a:defRPr sz="1000">
                <a:solidFill>
                  <a:srgbClr val="E2E8F0"/>
                </a:solidFill>
                <a:latin typeface="Segoe UI"/>
              </a:defRPr>
            </a:pPr>
            <a:r>
              <a:t>•  Salt-Pan Precision: 100.0% (Zero false alarms; TP=4, FP=0).</a:t>
            </a:r>
          </a:p>
          <a:p>
            <a:pPr>
              <a:spcAft>
                <a:spcPts val="800"/>
              </a:spcAft>
              <a:defRPr sz="1000">
                <a:solidFill>
                  <a:srgbClr val="E2E8F0"/>
                </a:solidFill>
                <a:latin typeface="Segoe UI"/>
              </a:defRPr>
            </a:pPr>
            <a:r>
              <a:t>•  Salt-Pan Recall: 80.0% (Retrieved 4 out of 5 test salt pans; FN=1).</a:t>
            </a:r>
          </a:p>
          <a:p>
            <a:pPr>
              <a:spcAft>
                <a:spcPts val="800"/>
              </a:spcAft>
              <a:defRPr sz="1000">
                <a:solidFill>
                  <a:srgbClr val="E2E8F0"/>
                </a:solidFill>
                <a:latin typeface="Segoe UI"/>
              </a:defRPr>
            </a:pPr>
            <a:r>
              <a:t>•  Salt-Pan F1-Score: 0.8889 (Top benchmark score across all 7 models).</a:t>
            </a:r>
          </a:p>
        </p:txBody>
      </p:sp>
      <p:sp>
        <p:nvSpPr>
          <p:cNvPr id="7" name="Rounded Rectangle 6"/>
          <p:cNvSpPr/>
          <p:nvPr/>
        </p:nvSpPr>
        <p:spPr>
          <a:xfrm>
            <a:off x="6217920" y="1463040"/>
            <a:ext cx="5212080" cy="4754880"/>
          </a:xfrm>
          <a:prstGeom prst="roundRect">
            <a:avLst/>
          </a:prstGeom>
          <a:solidFill>
            <a:srgbClr val="14181E"/>
          </a:solidFill>
          <a:ln w="15240">
            <a:solidFill>
              <a:srgbClr val="C08B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18_svm_confusion_matrix.png"/>
          <p:cNvPicPr>
            <a:picLocks noChangeAspect="1"/>
          </p:cNvPicPr>
          <p:nvPr/>
        </p:nvPicPr>
        <p:blipFill>
          <a:blip r:embed="rId2"/>
          <a:stretch>
            <a:fillRect/>
          </a:stretch>
        </p:blipFill>
        <p:spPr>
          <a:xfrm>
            <a:off x="6309360" y="1554480"/>
            <a:ext cx="5029200" cy="4572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PRODUCTION INFERENCE</a:t>
            </a:r>
          </a:p>
          <a:p>
            <a:pPr>
              <a:spcAft>
                <a:spcPts val="200"/>
              </a:spcAft>
              <a:defRPr sz="2000" b="1">
                <a:solidFill>
                  <a:srgbClr val="FFFFFF"/>
                </a:solidFill>
                <a:latin typeface="Segoe UI"/>
              </a:defRPr>
            </a:pPr>
            <a:r>
              <a:t>District-Wide Prediction Model: Random Forest</a:t>
            </a:r>
          </a:p>
          <a:p>
            <a:pPr>
              <a:defRPr sz="1100">
                <a:solidFill>
                  <a:srgbClr val="56B4E9"/>
                </a:solidFill>
                <a:latin typeface="Segoe UI"/>
              </a:defRPr>
            </a:pPr>
            <a:r>
              <a:t>Why Random Forest was selected for production raster inference across 90 million pixels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19 of 25</a:t>
            </a:r>
          </a:p>
        </p:txBody>
      </p:sp>
      <p:sp>
        <p:nvSpPr>
          <p:cNvPr id="5" name="Rounded Rectangle 4"/>
          <p:cNvSpPr/>
          <p:nvPr/>
        </p:nvSpPr>
        <p:spPr>
          <a:xfrm>
            <a:off x="731520" y="1463040"/>
            <a:ext cx="10698480" cy="29260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19_rf_inference_pipeline.png"/>
          <p:cNvPicPr>
            <a:picLocks noChangeAspect="1"/>
          </p:cNvPicPr>
          <p:nvPr/>
        </p:nvPicPr>
        <p:blipFill>
          <a:blip r:embed="rId2"/>
          <a:stretch>
            <a:fillRect/>
          </a:stretch>
        </p:blipFill>
        <p:spPr>
          <a:xfrm>
            <a:off x="822960" y="1554480"/>
            <a:ext cx="10515600" cy="2743200"/>
          </a:xfrm>
          <a:prstGeom prst="rect">
            <a:avLst/>
          </a:prstGeom>
        </p:spPr>
      </p:pic>
      <p:sp>
        <p:nvSpPr>
          <p:cNvPr id="7" name="Rounded Rectangle 6"/>
          <p:cNvSpPr/>
          <p:nvPr/>
        </p:nvSpPr>
        <p:spPr>
          <a:xfrm>
            <a:off x="731520" y="4572000"/>
            <a:ext cx="3383280" cy="164592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663440"/>
            <a:ext cx="3108960" cy="1463040"/>
          </a:xfrm>
          <a:prstGeom prst="rect">
            <a:avLst/>
          </a:prstGeom>
          <a:noFill/>
        </p:spPr>
        <p:txBody>
          <a:bodyPr wrap="square">
            <a:spAutoFit/>
          </a:bodyPr>
          <a:lstStyle/>
          <a:p>
            <a:pPr>
              <a:spcAft>
                <a:spcPts val="400"/>
              </a:spcAft>
              <a:defRPr b="1" sz="1050">
                <a:solidFill>
                  <a:srgbClr val="F2C94C"/>
                </a:solidFill>
              </a:defRPr>
            </a:pPr>
            <a:r>
              <a:t>Production Selection Rationale</a:t>
            </a:r>
          </a:p>
          <a:p>
            <a:pPr>
              <a:defRPr sz="900">
                <a:solidFill>
                  <a:srgbClr val="E2E8F0"/>
                </a:solidFill>
              </a:defRPr>
            </a:pPr>
            <a:r>
              <a:t>While SVM achieved higher F1 on the small holdout (0.8889 vs 0.7500), Random Forest (300 trees) offers superior computational throughput for tiled raster inference across 90M pixels.</a:t>
            </a:r>
          </a:p>
        </p:txBody>
      </p:sp>
      <p:sp>
        <p:nvSpPr>
          <p:cNvPr id="9" name="Rounded Rectangle 8"/>
          <p:cNvSpPr/>
          <p:nvPr/>
        </p:nvSpPr>
        <p:spPr>
          <a:xfrm>
            <a:off x="4389120" y="4572000"/>
            <a:ext cx="3383280" cy="164592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26280" y="4663440"/>
            <a:ext cx="3108960" cy="1463040"/>
          </a:xfrm>
          <a:prstGeom prst="rect">
            <a:avLst/>
          </a:prstGeom>
          <a:noFill/>
        </p:spPr>
        <p:txBody>
          <a:bodyPr wrap="square">
            <a:spAutoFit/>
          </a:bodyPr>
          <a:lstStyle/>
          <a:p>
            <a:pPr>
              <a:spcAft>
                <a:spcPts val="400"/>
              </a:spcAft>
              <a:defRPr b="1" sz="1050">
                <a:solidFill>
                  <a:srgbClr val="56B4E9"/>
                </a:solidFill>
              </a:defRPr>
            </a:pPr>
            <a:r>
              <a:t>Feature Importance Insights</a:t>
            </a:r>
          </a:p>
          <a:p>
            <a:pPr>
              <a:defRPr sz="900">
                <a:solidFill>
                  <a:srgbClr val="E2E8F0"/>
                </a:solidFill>
              </a:defRPr>
            </a:pPr>
            <a:r>
              <a:t>Gini importance rankings reveal B11 (SWIR-1), B08 (NIR), and MNDWI as the dominant predictors (&gt;45% cumulative weight), effectively driving the decision trees.</a:t>
            </a:r>
          </a:p>
        </p:txBody>
      </p:sp>
      <p:sp>
        <p:nvSpPr>
          <p:cNvPr id="11" name="Rounded Rectangle 10"/>
          <p:cNvSpPr/>
          <p:nvPr/>
        </p:nvSpPr>
        <p:spPr>
          <a:xfrm>
            <a:off x="8046720" y="4572000"/>
            <a:ext cx="3383280" cy="164592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4663440"/>
            <a:ext cx="3108960" cy="1463040"/>
          </a:xfrm>
          <a:prstGeom prst="rect">
            <a:avLst/>
          </a:prstGeom>
          <a:noFill/>
        </p:spPr>
        <p:txBody>
          <a:bodyPr wrap="square">
            <a:spAutoFit/>
          </a:bodyPr>
          <a:lstStyle/>
          <a:p>
            <a:pPr>
              <a:spcAft>
                <a:spcPts val="400"/>
              </a:spcAft>
              <a:defRPr b="1" sz="1050">
                <a:solidFill>
                  <a:srgbClr val="C08BF0"/>
                </a:solidFill>
              </a:defRPr>
            </a:pPr>
            <a:r>
              <a:t>No Metric Conflation</a:t>
            </a:r>
          </a:p>
          <a:p>
            <a:pPr>
              <a:defRPr sz="900">
                <a:solidFill>
                  <a:srgbClr val="E2E8F0"/>
                </a:solidFill>
              </a:defRPr>
            </a:pPr>
            <a:r>
              <a:t>We strictly distinguish: SVM holdout accuracy (99.51%) is NOT attributed to the Random Forest raster prediction. Both are documented independently in the provenance metadata.</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SPATIAL CARTOGRAPHY</a:t>
            </a:r>
          </a:p>
          <a:p>
            <a:pPr>
              <a:spcAft>
                <a:spcPts val="200"/>
              </a:spcAft>
              <a:defRPr sz="2000" b="1">
                <a:solidFill>
                  <a:srgbClr val="FFFFFF"/>
                </a:solidFill>
                <a:latin typeface="Segoe UI"/>
              </a:defRPr>
            </a:pPr>
            <a:r>
              <a:t>District-Wide Salt-Pan Prediction Map</a:t>
            </a:r>
          </a:p>
          <a:p>
            <a:pPr>
              <a:defRPr sz="1100">
                <a:solidFill>
                  <a:srgbClr val="56B4E9"/>
                </a:solidFill>
                <a:latin typeface="Segoe UI"/>
              </a:defRPr>
            </a:pPr>
            <a:r>
              <a:t>Final classified spatial inventory mapped across Thoothukudi District, Tamil Nadu</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20 of 25</a:t>
            </a:r>
          </a:p>
        </p:txBody>
      </p:sp>
      <p:sp>
        <p:nvSpPr>
          <p:cNvPr id="5" name="Rounded Rectangle 4"/>
          <p:cNvSpPr/>
          <p:nvPr/>
        </p:nvSpPr>
        <p:spPr>
          <a:xfrm>
            <a:off x="731520" y="1463040"/>
            <a:ext cx="5212080" cy="4754880"/>
          </a:xfrm>
          <a:prstGeom prst="roundRect">
            <a:avLst/>
          </a:prstGeom>
          <a:solidFill>
            <a:srgbClr val="14181E"/>
          </a:solidFill>
          <a:ln w="1524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20_cartographic_mapathon.png"/>
          <p:cNvPicPr>
            <a:picLocks noChangeAspect="1"/>
          </p:cNvPicPr>
          <p:nvPr/>
        </p:nvPicPr>
        <p:blipFill>
          <a:blip r:embed="rId2"/>
          <a:stretch>
            <a:fillRect/>
          </a:stretch>
        </p:blipFill>
        <p:spPr>
          <a:xfrm>
            <a:off x="822960" y="1554480"/>
            <a:ext cx="5029200" cy="4572000"/>
          </a:xfrm>
          <a:prstGeom prst="rect">
            <a:avLst/>
          </a:prstGeom>
        </p:spPr>
      </p:pic>
      <p:sp>
        <p:nvSpPr>
          <p:cNvPr id="7" name="Rounded Rectangle 6"/>
          <p:cNvSpPr/>
          <p:nvPr/>
        </p:nvSpPr>
        <p:spPr>
          <a:xfrm>
            <a:off x="6217920" y="1463040"/>
            <a:ext cx="5212080" cy="4754880"/>
          </a:xfrm>
          <a:prstGeom prst="roundRect">
            <a:avLst/>
          </a:prstGeom>
          <a:solidFill>
            <a:srgbClr val="14181E"/>
          </a:solidFill>
          <a:ln w="15240">
            <a:solidFill>
              <a:srgbClr val="56B4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lide20_district_saltpan_map.png"/>
          <p:cNvPicPr>
            <a:picLocks noChangeAspect="1"/>
          </p:cNvPicPr>
          <p:nvPr/>
        </p:nvPicPr>
        <p:blipFill>
          <a:blip r:embed="rId3"/>
          <a:stretch>
            <a:fillRect/>
          </a:stretch>
        </p:blipFill>
        <p:spPr>
          <a:xfrm>
            <a:off x="6309360" y="1554480"/>
            <a:ext cx="5029200" cy="4572000"/>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SPATIAL RECONCILIATION</a:t>
            </a:r>
          </a:p>
          <a:p>
            <a:pPr>
              <a:spcAft>
                <a:spcPts val="200"/>
              </a:spcAft>
              <a:defRPr sz="2000" b="1">
                <a:solidFill>
                  <a:srgbClr val="FFFFFF"/>
                </a:solidFill>
                <a:latin typeface="Segoe UI"/>
              </a:defRPr>
            </a:pPr>
            <a:r>
              <a:t>Final Inventory and Area Reconciliation Results</a:t>
            </a:r>
          </a:p>
          <a:p>
            <a:pPr>
              <a:defRPr sz="1100">
                <a:solidFill>
                  <a:srgbClr val="56B4E9"/>
                </a:solidFill>
                <a:latin typeface="Segoe UI"/>
              </a:defRPr>
            </a:pPr>
            <a:r>
              <a:t>Mathematical reconciliation from raw satellite inference to verified district vector inventory</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21 of 25</a:t>
            </a:r>
          </a:p>
        </p:txBody>
      </p:sp>
      <p:sp>
        <p:nvSpPr>
          <p:cNvPr id="5" name="Rounded Rectangle 4"/>
          <p:cNvSpPr/>
          <p:nvPr/>
        </p:nvSpPr>
        <p:spPr>
          <a:xfrm>
            <a:off x="731520" y="1463040"/>
            <a:ext cx="621792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21_area_reconciliation_chart.png"/>
          <p:cNvPicPr>
            <a:picLocks noChangeAspect="1"/>
          </p:cNvPicPr>
          <p:nvPr/>
        </p:nvPicPr>
        <p:blipFill>
          <a:blip r:embed="rId2"/>
          <a:stretch>
            <a:fillRect/>
          </a:stretch>
        </p:blipFill>
        <p:spPr>
          <a:xfrm>
            <a:off x="822960" y="1554480"/>
            <a:ext cx="6035040" cy="4572000"/>
          </a:xfrm>
          <a:prstGeom prst="rect">
            <a:avLst/>
          </a:prstGeom>
        </p:spPr>
      </p:pic>
      <p:sp>
        <p:nvSpPr>
          <p:cNvPr id="7" name="Rounded Rectangle 6"/>
          <p:cNvSpPr/>
          <p:nvPr/>
        </p:nvSpPr>
        <p:spPr>
          <a:xfrm>
            <a:off x="7132320" y="1463040"/>
            <a:ext cx="4297680" cy="105156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269480" y="1554480"/>
            <a:ext cx="4023360" cy="868680"/>
          </a:xfrm>
          <a:prstGeom prst="rect">
            <a:avLst/>
          </a:prstGeom>
          <a:noFill/>
        </p:spPr>
        <p:txBody>
          <a:bodyPr wrap="square" lIns="0" tIns="0" rIns="0" bIns="0">
            <a:spAutoFit/>
          </a:bodyPr>
          <a:lstStyle/>
          <a:p>
            <a:pPr>
              <a:defRPr sz="2200" b="1">
                <a:solidFill>
                  <a:srgbClr val="F2C94C"/>
                </a:solidFill>
                <a:latin typeface="Segoe UI"/>
              </a:defRPr>
            </a:pPr>
            <a:r>
              <a:t>1,264.52 ha</a:t>
            </a:r>
          </a:p>
          <a:p>
            <a:pPr>
              <a:defRPr sz="1000" b="1">
                <a:solidFill>
                  <a:srgbClr val="FFFFFF"/>
                </a:solidFill>
                <a:latin typeface="Segoe UI"/>
              </a:defRPr>
            </a:pPr>
            <a:r>
              <a:t>Final Thoothukudi District Area</a:t>
            </a:r>
          </a:p>
          <a:p>
            <a:pPr>
              <a:defRPr sz="850">
                <a:solidFill>
                  <a:srgbClr val="94A3B8"/>
                </a:solidFill>
                <a:latin typeface="Segoe UI"/>
              </a:defRPr>
            </a:pPr>
            <a:r>
              <a:t>Strictly inside administrative boundary</a:t>
            </a:r>
          </a:p>
        </p:txBody>
      </p:sp>
      <p:sp>
        <p:nvSpPr>
          <p:cNvPr id="9" name="Rounded Rectangle 8"/>
          <p:cNvSpPr/>
          <p:nvPr/>
        </p:nvSpPr>
        <p:spPr>
          <a:xfrm>
            <a:off x="7132320" y="2697480"/>
            <a:ext cx="4297680" cy="105156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269480" y="2788920"/>
            <a:ext cx="4023360" cy="868680"/>
          </a:xfrm>
          <a:prstGeom prst="rect">
            <a:avLst/>
          </a:prstGeom>
          <a:noFill/>
        </p:spPr>
        <p:txBody>
          <a:bodyPr wrap="square" lIns="0" tIns="0" rIns="0" bIns="0">
            <a:spAutoFit/>
          </a:bodyPr>
          <a:lstStyle/>
          <a:p>
            <a:pPr>
              <a:defRPr sz="2200" b="1">
                <a:solidFill>
                  <a:srgbClr val="56B4E9"/>
                </a:solidFill>
                <a:latin typeface="Segoe UI"/>
              </a:defRPr>
            </a:pPr>
            <a:r>
              <a:t>2,071 Parcels</a:t>
            </a:r>
          </a:p>
          <a:p>
            <a:pPr>
              <a:defRPr sz="1000" b="1">
                <a:solidFill>
                  <a:srgbClr val="FFFFFF"/>
                </a:solidFill>
                <a:latin typeface="Segoe UI"/>
              </a:defRPr>
            </a:pPr>
            <a:r>
              <a:t>Verified Salt Pan Vector Parcels</a:t>
            </a:r>
          </a:p>
          <a:p>
            <a:pPr>
              <a:defRPr sz="850">
                <a:solidFill>
                  <a:srgbClr val="94A3B8"/>
                </a:solidFill>
                <a:latin typeface="Segoe UI"/>
              </a:defRPr>
            </a:pPr>
            <a:r>
              <a:t>Minimum mapping unit ≥ 1,000 m² (0.1 ha)</a:t>
            </a:r>
          </a:p>
        </p:txBody>
      </p:sp>
      <p:sp>
        <p:nvSpPr>
          <p:cNvPr id="11" name="Rounded Rectangle 10"/>
          <p:cNvSpPr/>
          <p:nvPr/>
        </p:nvSpPr>
        <p:spPr>
          <a:xfrm>
            <a:off x="7132320" y="3931920"/>
            <a:ext cx="4297680" cy="105156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80" y="4023360"/>
            <a:ext cx="4023360" cy="868680"/>
          </a:xfrm>
          <a:prstGeom prst="rect">
            <a:avLst/>
          </a:prstGeom>
          <a:noFill/>
        </p:spPr>
        <p:txBody>
          <a:bodyPr wrap="square" lIns="0" tIns="0" rIns="0" bIns="0">
            <a:spAutoFit/>
          </a:bodyPr>
          <a:lstStyle/>
          <a:p>
            <a:pPr>
              <a:defRPr sz="2200" b="1">
                <a:solidFill>
                  <a:srgbClr val="F56565"/>
                </a:solidFill>
                <a:latin typeface="Segoe UI"/>
              </a:defRPr>
            </a:pPr>
            <a:r>
              <a:t>-627 Parcels (-367.4 ha)</a:t>
            </a:r>
          </a:p>
          <a:p>
            <a:pPr>
              <a:defRPr sz="1000" b="1">
                <a:solidFill>
                  <a:srgbClr val="FFFFFF"/>
                </a:solidFill>
                <a:latin typeface="Segoe UI"/>
              </a:defRPr>
            </a:pPr>
            <a:r>
              <a:t>Out-of-District Removal</a:t>
            </a:r>
          </a:p>
          <a:p>
            <a:pPr>
              <a:defRPr sz="850">
                <a:solidFill>
                  <a:srgbClr val="94A3B8"/>
                </a:solidFill>
                <a:latin typeface="Segoe UI"/>
              </a:defRPr>
            </a:pPr>
            <a:r>
              <a:t>Purged from Ramanathapuram / Tirunelveli</a:t>
            </a:r>
          </a:p>
        </p:txBody>
      </p:sp>
      <p:sp>
        <p:nvSpPr>
          <p:cNvPr id="13" name="Rounded Rectangle 12"/>
          <p:cNvSpPr/>
          <p:nvPr/>
        </p:nvSpPr>
        <p:spPr>
          <a:xfrm>
            <a:off x="7132320" y="5166360"/>
            <a:ext cx="4297680" cy="1051560"/>
          </a:xfrm>
          <a:prstGeom prst="roundRect">
            <a:avLst/>
          </a:prstGeom>
          <a:solidFill>
            <a:srgbClr val="18202A"/>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9480" y="5257800"/>
            <a:ext cx="4023360" cy="868680"/>
          </a:xfrm>
          <a:prstGeom prst="rect">
            <a:avLst/>
          </a:prstGeom>
          <a:noFill/>
        </p:spPr>
        <p:txBody>
          <a:bodyPr wrap="square" lIns="0" tIns="0" rIns="0" bIns="0">
            <a:spAutoFit/>
          </a:bodyPr>
          <a:lstStyle/>
          <a:p>
            <a:pPr>
              <a:defRPr sz="2200" b="1">
                <a:solidFill>
                  <a:srgbClr val="48BB78"/>
                </a:solidFill>
                <a:latin typeface="Segoe UI"/>
              </a:defRPr>
            </a:pPr>
            <a:r>
              <a:t>99.95% Coastal</a:t>
            </a:r>
          </a:p>
          <a:p>
            <a:pPr>
              <a:defRPr sz="1000" b="1">
                <a:solidFill>
                  <a:srgbClr val="FFFFFF"/>
                </a:solidFill>
                <a:latin typeface="Segoe UI"/>
              </a:defRPr>
            </a:pPr>
            <a:r>
              <a:t>Coastal Concentration (&lt;30 km)</a:t>
            </a:r>
          </a:p>
          <a:p>
            <a:pPr>
              <a:defRPr sz="850">
                <a:solidFill>
                  <a:srgbClr val="94A3B8"/>
                </a:solidFill>
                <a:latin typeface="Segoe UI"/>
              </a:defRPr>
            </a:pPr>
            <a:r>
              <a:t>34.0% in 0-5km, 29.8% in 5-10km, 36.2% in 10-30km</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GEOSPATIAL SOFTWARE</a:t>
            </a:r>
          </a:p>
          <a:p>
            <a:pPr>
              <a:spcAft>
                <a:spcPts val="200"/>
              </a:spcAft>
              <a:defRPr sz="2000" b="1">
                <a:solidFill>
                  <a:srgbClr val="FFFFFF"/>
                </a:solidFill>
                <a:latin typeface="Segoe UI"/>
              </a:defRPr>
            </a:pPr>
            <a:r>
              <a:t>Interactive Dashboard: Thoothukudi Salt Pan Intelligence</a:t>
            </a:r>
          </a:p>
          <a:p>
            <a:pPr>
              <a:defRPr sz="1100">
                <a:solidFill>
                  <a:srgbClr val="56B4E9"/>
                </a:solidFill>
                <a:latin typeface="Segoe UI"/>
              </a:defRPr>
            </a:pPr>
            <a:r>
              <a:t>Full-stack React &amp; MapLibre GL JS web application for parcel inspection and analytics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22 of 25</a:t>
            </a:r>
          </a:p>
        </p:txBody>
      </p:sp>
      <p:sp>
        <p:nvSpPr>
          <p:cNvPr id="5" name="Rounded Rectangle 4"/>
          <p:cNvSpPr/>
          <p:nvPr/>
        </p:nvSpPr>
        <p:spPr>
          <a:xfrm>
            <a:off x="731520" y="1463040"/>
            <a:ext cx="621792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lide22_coastal_analytics.png"/>
          <p:cNvPicPr>
            <a:picLocks noChangeAspect="1"/>
          </p:cNvPicPr>
          <p:nvPr/>
        </p:nvPicPr>
        <p:blipFill>
          <a:blip r:embed="rId2"/>
          <a:stretch>
            <a:fillRect/>
          </a:stretch>
        </p:blipFill>
        <p:spPr>
          <a:xfrm>
            <a:off x="822960" y="1554480"/>
            <a:ext cx="6035040" cy="4572000"/>
          </a:xfrm>
          <a:prstGeom prst="rect">
            <a:avLst/>
          </a:prstGeom>
        </p:spPr>
      </p:pic>
      <p:sp>
        <p:nvSpPr>
          <p:cNvPr id="7" name="Rounded Rectangle 6"/>
          <p:cNvSpPr/>
          <p:nvPr/>
        </p:nvSpPr>
        <p:spPr>
          <a:xfrm>
            <a:off x="7132320" y="1463040"/>
            <a:ext cx="42976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1645920"/>
            <a:ext cx="3931920" cy="4389120"/>
          </a:xfrm>
          <a:prstGeom prst="rect">
            <a:avLst/>
          </a:prstGeom>
          <a:noFill/>
        </p:spPr>
        <p:txBody>
          <a:bodyPr wrap="square">
            <a:spAutoFit/>
          </a:bodyPr>
          <a:lstStyle/>
          <a:p>
            <a:pPr>
              <a:spcAft>
                <a:spcPts val="800"/>
              </a:spcAft>
              <a:defRPr b="1" sz="1200">
                <a:solidFill>
                  <a:srgbClr val="F2C94C"/>
                </a:solidFill>
              </a:defRPr>
            </a:pPr>
            <a:r>
              <a:t>5 PRODUCTION FEATURE MODULES</a:t>
            </a:r>
          </a:p>
          <a:p>
            <a:pPr>
              <a:defRPr b="1" sz="1000">
                <a:solidFill>
                  <a:srgbClr val="56B4E9"/>
                </a:solidFill>
              </a:defRPr>
            </a:pPr>
            <a:r>
              <a:t>1. Overview Map</a:t>
            </a:r>
          </a:p>
          <a:p>
            <a:pPr>
              <a:spcAft>
                <a:spcPts val="400"/>
              </a:spcAft>
              <a:defRPr sz="850">
                <a:solidFill>
                  <a:srgbClr val="E2E8F0"/>
                </a:solidFill>
              </a:defRPr>
            </a:pPr>
            <a:r>
              <a:t>WebGL vector cartography, district boundary, gold salt pan inventory, probability heatmap, training parcel toggle, parcel inspector.</a:t>
            </a:r>
          </a:p>
          <a:p>
            <a:pPr>
              <a:defRPr b="1" sz="1000">
                <a:solidFill>
                  <a:srgbClr val="56B4E9"/>
                </a:solidFill>
              </a:defRPr>
            </a:pPr>
            <a:r>
              <a:t>2. Salt Pan Explorer</a:t>
            </a:r>
          </a:p>
          <a:p>
            <a:pPr>
              <a:spcAft>
                <a:spcPts val="400"/>
              </a:spcAft>
              <a:defRPr sz="850">
                <a:solidFill>
                  <a:srgbClr val="E2E8F0"/>
                </a:solidFill>
              </a:defRPr>
            </a:pPr>
            <a:r>
              <a:t>Filterable table of all 2,071 parcels, search by ID, coastal band filters, 5-bin area histogram, CSV export.</a:t>
            </a:r>
          </a:p>
          <a:p>
            <a:pPr>
              <a:defRPr b="1" sz="1000">
                <a:solidFill>
                  <a:srgbClr val="56B4E9"/>
                </a:solidFill>
              </a:defRPr>
            </a:pPr>
            <a:r>
              <a:t>3. Model Lab</a:t>
            </a:r>
          </a:p>
          <a:p>
            <a:pPr>
              <a:spcAft>
                <a:spcPts val="400"/>
              </a:spcAft>
              <a:defRPr sz="850">
                <a:solidFill>
                  <a:srgbClr val="E2E8F0"/>
                </a:solidFill>
              </a:defRPr>
            </a:pPr>
            <a:r>
              <a:t>Interactive benchmark table across all 7 algorithms, 2x2 confusion matrix inspector, horizontal Gini feature importance bar chart.</a:t>
            </a:r>
          </a:p>
          <a:p>
            <a:pPr>
              <a:defRPr b="1" sz="1000">
                <a:solidFill>
                  <a:srgbClr val="56B4E9"/>
                </a:solidFill>
              </a:defRPr>
            </a:pPr>
            <a:r>
              <a:t>4. Validation &amp; Comparison</a:t>
            </a:r>
          </a:p>
          <a:p>
            <a:pPr>
              <a:spcAft>
                <a:spcPts val="400"/>
              </a:spcAft>
              <a:defRPr sz="850">
                <a:solidFill>
                  <a:srgbClr val="E2E8F0"/>
                </a:solidFill>
              </a:defRPr>
            </a:pPr>
            <a:r>
              <a:t>Dual-layer reference vs predicted comparison, 3-stage sieve progression analysis (-151.4 ha noise reduction).</a:t>
            </a:r>
          </a:p>
          <a:p>
            <a:pPr>
              <a:defRPr b="1" sz="1000">
                <a:solidFill>
                  <a:srgbClr val="56B4E9"/>
                </a:solidFill>
              </a:defRPr>
            </a:pPr>
            <a:r>
              <a:t>5. Area Analytics</a:t>
            </a:r>
          </a:p>
          <a:p>
            <a:pPr>
              <a:spcAft>
                <a:spcPts val="400"/>
              </a:spcAft>
              <a:defRPr sz="850">
                <a:solidFill>
                  <a:srgbClr val="E2E8F0"/>
                </a:solidFill>
              </a:defRPr>
            </a:pPr>
            <a:r>
              <a:t>Coastal proximity stratification (0-5km, 5-10km, 10-30km, &gt;30km), Top 10 largest parcels, ESA WorldCover cross-tabulation.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CRITICAL EVALUATION</a:t>
            </a:r>
          </a:p>
          <a:p>
            <a:pPr>
              <a:spcAft>
                <a:spcPts val="200"/>
              </a:spcAft>
              <a:defRPr sz="2000" b="1">
                <a:solidFill>
                  <a:srgbClr val="FFFFFF"/>
                </a:solidFill>
                <a:latin typeface="Segoe UI"/>
              </a:defRPr>
            </a:pPr>
            <a:r>
              <a:t>Validation, Limitations &amp; Scientific Reliability</a:t>
            </a:r>
          </a:p>
          <a:p>
            <a:pPr>
              <a:defRPr sz="1100">
                <a:solidFill>
                  <a:srgbClr val="56B4E9"/>
                </a:solidFill>
                <a:latin typeface="Segoe UI"/>
              </a:defRPr>
            </a:pPr>
            <a:r>
              <a:t>Transparent appraisal of methodological constraints, assumptions, and error sources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23 of 25</a:t>
            </a:r>
          </a:p>
        </p:txBody>
      </p:sp>
      <p:sp>
        <p:nvSpPr>
          <p:cNvPr id="5" name="Rounded Rectangle 4"/>
          <p:cNvSpPr/>
          <p:nvPr/>
        </p:nvSpPr>
        <p:spPr>
          <a:xfrm>
            <a:off x="731520" y="1463040"/>
            <a:ext cx="5212080" cy="228600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1554480"/>
            <a:ext cx="4937760" cy="2103120"/>
          </a:xfrm>
          <a:prstGeom prst="rect">
            <a:avLst/>
          </a:prstGeom>
          <a:noFill/>
        </p:spPr>
        <p:txBody>
          <a:bodyPr wrap="square">
            <a:spAutoFit/>
          </a:bodyPr>
          <a:lstStyle/>
          <a:p>
            <a:pPr>
              <a:spcAft>
                <a:spcPts val="400"/>
              </a:spcAft>
              <a:defRPr b="1" sz="1100">
                <a:solidFill>
                  <a:srgbClr val="F56565"/>
                </a:solidFill>
              </a:defRPr>
            </a:pPr>
            <a:r>
              <a:t>NO INDEPENDENT FIELD GROUND-TRUTH</a:t>
            </a:r>
          </a:p>
          <a:p>
            <a:pPr>
              <a:spcAft>
                <a:spcPts val="400"/>
              </a:spcAft>
              <a:defRPr sz="950">
                <a:solidFill>
                  <a:srgbClr val="E2E8F0"/>
                </a:solidFill>
                <a:latin typeface="Segoe UI"/>
              </a:defRPr>
            </a:pPr>
            <a:r>
              <a:t>•  Scientifically Honest Disclosure: No external, independent field-collected GPS points were available.</a:t>
            </a:r>
          </a:p>
          <a:p>
            <a:pPr>
              <a:spcAft>
                <a:spcPts val="400"/>
              </a:spcAft>
              <a:defRPr sz="950">
                <a:solidFill>
                  <a:srgbClr val="E2E8F0"/>
                </a:solidFill>
                <a:latin typeface="Segoe UI"/>
              </a:defRPr>
            </a:pPr>
            <a:r>
              <a:t>•  All metrics evaluate model performance against digitized reference polygons, not field visits.</a:t>
            </a:r>
          </a:p>
          <a:p>
            <a:pPr>
              <a:spcAft>
                <a:spcPts val="400"/>
              </a:spcAft>
              <a:defRPr sz="950">
                <a:solidFill>
                  <a:srgbClr val="E2E8F0"/>
                </a:solidFill>
                <a:latin typeface="Segoe UI"/>
              </a:defRPr>
            </a:pPr>
            <a:r>
              <a:t>•  Candidate/reference spatial overlap should NOT be conflated with true operational field accuracy.</a:t>
            </a:r>
          </a:p>
        </p:txBody>
      </p:sp>
      <p:sp>
        <p:nvSpPr>
          <p:cNvPr id="7" name="Rounded Rectangle 6"/>
          <p:cNvSpPr/>
          <p:nvPr/>
        </p:nvSpPr>
        <p:spPr>
          <a:xfrm>
            <a:off x="731520" y="3931920"/>
            <a:ext cx="5212080" cy="228600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023360"/>
            <a:ext cx="4937760" cy="2103120"/>
          </a:xfrm>
          <a:prstGeom prst="rect">
            <a:avLst/>
          </a:prstGeom>
          <a:noFill/>
        </p:spPr>
        <p:txBody>
          <a:bodyPr wrap="square">
            <a:spAutoFit/>
          </a:bodyPr>
          <a:lstStyle/>
          <a:p>
            <a:pPr>
              <a:spcAft>
                <a:spcPts val="400"/>
              </a:spcAft>
              <a:defRPr b="1" sz="1100">
                <a:solidFill>
                  <a:srgbClr val="F2C94C"/>
                </a:solidFill>
              </a:defRPr>
            </a:pPr>
            <a:r>
              <a:t>SMALL POSITIVE HOLDOUT SUPPORT (N=5)</a:t>
            </a:r>
          </a:p>
          <a:p>
            <a:pPr>
              <a:spcAft>
                <a:spcPts val="400"/>
              </a:spcAft>
              <a:defRPr sz="950">
                <a:solidFill>
                  <a:srgbClr val="E2E8F0"/>
                </a:solidFill>
                <a:latin typeface="Segoe UI"/>
              </a:defRPr>
            </a:pPr>
            <a:r>
              <a:t>•  Due to severe class imbalance, the holdout contains only 5 positive salt pan polygons.</a:t>
            </a:r>
          </a:p>
          <a:p>
            <a:pPr>
              <a:spcAft>
                <a:spcPts val="400"/>
              </a:spcAft>
              <a:defRPr sz="950">
                <a:solidFill>
                  <a:srgbClr val="E2E8F0"/>
                </a:solidFill>
                <a:latin typeface="Segoe UI"/>
              </a:defRPr>
            </a:pPr>
            <a:r>
              <a:t>•  While SVM achieved 4/5 detection (80% recall), statistical confidence intervals on N=5 are wide.</a:t>
            </a:r>
          </a:p>
          <a:p>
            <a:pPr>
              <a:spcAft>
                <a:spcPts val="400"/>
              </a:spcAft>
              <a:defRPr sz="950">
                <a:solidFill>
                  <a:srgbClr val="E2E8F0"/>
                </a:solidFill>
                <a:latin typeface="Segoe UI"/>
              </a:defRPr>
            </a:pPr>
            <a:r>
              <a:t>•  Future evaluations require minimum 50-100 spatially independent positive field verification sites.</a:t>
            </a:r>
          </a:p>
        </p:txBody>
      </p:sp>
      <p:sp>
        <p:nvSpPr>
          <p:cNvPr id="9" name="Rounded Rectangle 8"/>
          <p:cNvSpPr/>
          <p:nvPr/>
        </p:nvSpPr>
        <p:spPr>
          <a:xfrm>
            <a:off x="6217920" y="1463040"/>
            <a:ext cx="5212080" cy="228600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55080" y="1554480"/>
            <a:ext cx="4937760" cy="2103120"/>
          </a:xfrm>
          <a:prstGeom prst="rect">
            <a:avLst/>
          </a:prstGeom>
          <a:noFill/>
        </p:spPr>
        <p:txBody>
          <a:bodyPr wrap="square">
            <a:spAutoFit/>
          </a:bodyPr>
          <a:lstStyle/>
          <a:p>
            <a:pPr>
              <a:spcAft>
                <a:spcPts val="400"/>
              </a:spcAft>
              <a:defRPr b="1" sz="1100">
                <a:solidFill>
                  <a:srgbClr val="56B4E9"/>
                </a:solidFill>
              </a:defRPr>
            </a:pPr>
            <a:r>
              <a:t>SPATIAL AUTOCORRELATION &amp; MIXED PIXELS</a:t>
            </a:r>
          </a:p>
          <a:p>
            <a:pPr>
              <a:spcAft>
                <a:spcPts val="400"/>
              </a:spcAft>
              <a:defRPr sz="950">
                <a:solidFill>
                  <a:srgbClr val="E2E8F0"/>
                </a:solidFill>
                <a:latin typeface="Segoe UI"/>
              </a:defRPr>
            </a:pPr>
            <a:r>
              <a:t>•  Minority class backfill created spatial-block overlap in blocks 7, 13, and 23.</a:t>
            </a:r>
          </a:p>
          <a:p>
            <a:pPr>
              <a:spcAft>
                <a:spcPts val="400"/>
              </a:spcAft>
              <a:defRPr sz="950">
                <a:solidFill>
                  <a:srgbClr val="E2E8F0"/>
                </a:solidFill>
                <a:latin typeface="Segoe UI"/>
              </a:defRPr>
            </a:pPr>
            <a:r>
              <a:t>•  Earthen bunds (1-3 m wide) are narrower than 20m Sentinel-2 pixels, introducing mixed spectral signatures.</a:t>
            </a:r>
          </a:p>
          <a:p>
            <a:pPr>
              <a:spcAft>
                <a:spcPts val="400"/>
              </a:spcAft>
              <a:defRPr sz="950">
                <a:solidFill>
                  <a:srgbClr val="E2E8F0"/>
                </a:solidFill>
                <a:latin typeface="Segoe UI"/>
              </a:defRPr>
            </a:pPr>
            <a:r>
              <a:t>•  Temporal alignment: August-September 2026 imagery may not align with historical cadastral maps.</a:t>
            </a:r>
          </a:p>
        </p:txBody>
      </p:sp>
      <p:sp>
        <p:nvSpPr>
          <p:cNvPr id="11" name="Rounded Rectangle 10"/>
          <p:cNvSpPr/>
          <p:nvPr/>
        </p:nvSpPr>
        <p:spPr>
          <a:xfrm>
            <a:off x="6217920" y="3931920"/>
            <a:ext cx="5212080" cy="228600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4023360"/>
            <a:ext cx="4937760" cy="2103120"/>
          </a:xfrm>
          <a:prstGeom prst="rect">
            <a:avLst/>
          </a:prstGeom>
          <a:noFill/>
        </p:spPr>
        <p:txBody>
          <a:bodyPr wrap="square">
            <a:spAutoFit/>
          </a:bodyPr>
          <a:lstStyle/>
          <a:p>
            <a:pPr>
              <a:spcAft>
                <a:spcPts val="400"/>
              </a:spcAft>
              <a:defRPr b="1" sz="1100">
                <a:solidFill>
                  <a:srgbClr val="C08BF0"/>
                </a:solidFill>
              </a:defRPr>
            </a:pPr>
            <a:r>
              <a:t>SPECTRAL PROXY AMBIGUITIES</a:t>
            </a:r>
          </a:p>
          <a:p>
            <a:pPr>
              <a:spcAft>
                <a:spcPts val="400"/>
              </a:spcAft>
              <a:defRPr sz="950">
                <a:solidFill>
                  <a:srgbClr val="E2E8F0"/>
                </a:solidFill>
                <a:latin typeface="Segoe UI"/>
              </a:defRPr>
            </a:pPr>
            <a:r>
              <a:t>•  ESA WorldCover Class 62 is 'bare/sparse vegetation' — it is an evaporite proxy, NOT a salt pan definition.</a:t>
            </a:r>
          </a:p>
          <a:p>
            <a:pPr>
              <a:spcAft>
                <a:spcPts val="400"/>
              </a:spcAft>
              <a:defRPr sz="950">
                <a:solidFill>
                  <a:srgbClr val="E2E8F0"/>
                </a:solidFill>
                <a:latin typeface="Segoe UI"/>
              </a:defRPr>
            </a:pPr>
            <a:r>
              <a:t>•  Intertidal mudflats and white sandy beaches share similar SWIR and albedo signatures, causing edge noise.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SYNTHESIS &amp; HORIZONS</a:t>
            </a:r>
          </a:p>
          <a:p>
            <a:pPr>
              <a:spcAft>
                <a:spcPts val="200"/>
              </a:spcAft>
              <a:defRPr sz="2000" b="1">
                <a:solidFill>
                  <a:srgbClr val="FFFFFF"/>
                </a:solidFill>
                <a:latin typeface="Segoe UI"/>
              </a:defRPr>
            </a:pPr>
            <a:r>
              <a:t>Conclusions and Future Research Directions</a:t>
            </a:r>
          </a:p>
          <a:p>
            <a:pPr>
              <a:defRPr sz="1100">
                <a:solidFill>
                  <a:srgbClr val="56B4E9"/>
                </a:solidFill>
                <a:latin typeface="Segoe UI"/>
              </a:defRPr>
            </a:pPr>
            <a:r>
              <a:t>Summary of verified research achievements and proposed future technical extensions</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24 of 25</a:t>
            </a:r>
          </a:p>
        </p:txBody>
      </p:sp>
      <p:sp>
        <p:nvSpPr>
          <p:cNvPr id="5" name="Rounded Rectangle 4"/>
          <p:cNvSpPr/>
          <p:nvPr/>
        </p:nvSpPr>
        <p:spPr>
          <a:xfrm>
            <a:off x="7315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846320" cy="4389120"/>
          </a:xfrm>
          <a:prstGeom prst="rect">
            <a:avLst/>
          </a:prstGeom>
          <a:noFill/>
        </p:spPr>
        <p:txBody>
          <a:bodyPr wrap="square">
            <a:spAutoFit/>
          </a:bodyPr>
          <a:lstStyle/>
          <a:p>
            <a:pPr>
              <a:spcAft>
                <a:spcPts val="1000"/>
              </a:spcAft>
              <a:defRPr b="1" sz="1300">
                <a:solidFill>
                  <a:srgbClr val="48BB78"/>
                </a:solidFill>
              </a:defRPr>
            </a:pPr>
            <a:r>
              <a:t>VERIFIED PROJECT ACHIEVEMENTS</a:t>
            </a:r>
          </a:p>
          <a:p>
            <a:pPr>
              <a:spcAft>
                <a:spcPts val="800"/>
              </a:spcAft>
              <a:defRPr sz="1000">
                <a:solidFill>
                  <a:srgbClr val="E2E8F0"/>
                </a:solidFill>
                <a:latin typeface="Segoe UI"/>
              </a:defRPr>
            </a:pPr>
            <a:r>
              <a:t>•  Multispectral Pipeline: Successfully engineered a reproducible Python/GIS pipeline integrating 6 Sentinel-2 bands and 10 spectral indices across Thoothukudi district.</a:t>
            </a:r>
          </a:p>
          <a:p>
            <a:pPr>
              <a:spcAft>
                <a:spcPts val="800"/>
              </a:spcAft>
              <a:defRPr sz="1000">
                <a:solidFill>
                  <a:srgbClr val="E2E8F0"/>
                </a:solidFill>
                <a:latin typeface="Segoe UI"/>
              </a:defRPr>
            </a:pPr>
            <a:r>
              <a:t>•  Comprehensive ML Benchmark: Systematically trained and evaluated 7 machine learning models, establishing SVM RBF (F1: 0.8889) and Random Forest (ROC-AUC: 1.000) as top performers.</a:t>
            </a:r>
          </a:p>
          <a:p>
            <a:pPr>
              <a:spcAft>
                <a:spcPts val="800"/>
              </a:spcAft>
              <a:defRPr sz="1000">
                <a:solidFill>
                  <a:srgbClr val="E2E8F0"/>
                </a:solidFill>
                <a:latin typeface="Segoe UI"/>
              </a:defRPr>
            </a:pPr>
            <a:r>
              <a:t>•  Authoritative Vector Inventory: Produced a verified inventory of 2,071 salt pan polygons totaling 1,264.52 ha strictly within the district boundary.</a:t>
            </a:r>
          </a:p>
          <a:p>
            <a:pPr>
              <a:spcAft>
                <a:spcPts val="800"/>
              </a:spcAft>
              <a:defRPr sz="1000">
                <a:solidFill>
                  <a:srgbClr val="E2E8F0"/>
                </a:solidFill>
                <a:latin typeface="Segoe UI"/>
              </a:defRPr>
            </a:pPr>
            <a:r>
              <a:t>•  Multi-Stage Noise Removal: Reconciled raw raster (1,873.2 ha) to cleaned vector (1,264.5 ha) via 1,000 m² sieve filtering and administrative clipping.</a:t>
            </a:r>
          </a:p>
          <a:p>
            <a:pPr>
              <a:spcAft>
                <a:spcPts val="800"/>
              </a:spcAft>
              <a:defRPr sz="1000">
                <a:solidFill>
                  <a:srgbClr val="E2E8F0"/>
                </a:solidFill>
                <a:latin typeface="Segoe UI"/>
              </a:defRPr>
            </a:pPr>
            <a:r>
              <a:t>•  Interactive Dashboard: Deployed a production-ready WebGL analytics platform with 5 interactive modules.</a:t>
            </a:r>
          </a:p>
        </p:txBody>
      </p:sp>
      <p:sp>
        <p:nvSpPr>
          <p:cNvPr id="7" name="Rounded Rectangle 6"/>
          <p:cNvSpPr/>
          <p:nvPr/>
        </p:nvSpPr>
        <p:spPr>
          <a:xfrm>
            <a:off x="6217920" y="1463040"/>
            <a:ext cx="521208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1000"/>
              </a:spcAft>
              <a:defRPr b="1" sz="1300">
                <a:solidFill>
                  <a:srgbClr val="56B4E9"/>
                </a:solidFill>
              </a:defRPr>
            </a:pPr>
            <a:r>
              <a:t>PROPOSED FUTURE EXTENSIONS</a:t>
            </a:r>
          </a:p>
          <a:p>
            <a:pPr>
              <a:spcAft>
                <a:spcPts val="800"/>
              </a:spcAft>
              <a:defRPr sz="1000">
                <a:solidFill>
                  <a:srgbClr val="E2E8F0"/>
                </a:solidFill>
                <a:latin typeface="Segoe UI"/>
              </a:defRPr>
            </a:pPr>
            <a:r>
              <a:t>•  Independent Field GPS Campaigns: Conduct stratified field sampling with RTK-GPS across minimum 100 coastal saltern points for defensible ground-truthing.</a:t>
            </a:r>
          </a:p>
          <a:p>
            <a:pPr>
              <a:spcAft>
                <a:spcPts val="800"/>
              </a:spcAft>
              <a:defRPr sz="1000">
                <a:solidFill>
                  <a:srgbClr val="E2E8F0"/>
                </a:solidFill>
                <a:latin typeface="Segoe UI"/>
              </a:defRPr>
            </a:pPr>
            <a:r>
              <a:t>•  Synthetic Aperture Radar (SAR) Fusion: Integrate Sentinel-1 C-band SAR backscatter (VV/VH) to exploit surface dielectric roughness and penetrate monsoon cloud cover.</a:t>
            </a:r>
          </a:p>
          <a:p>
            <a:pPr>
              <a:spcAft>
                <a:spcPts val="800"/>
              </a:spcAft>
              <a:defRPr sz="1000">
                <a:solidFill>
                  <a:srgbClr val="E2E8F0"/>
                </a:solidFill>
                <a:latin typeface="Segoe UI"/>
              </a:defRPr>
            </a:pPr>
            <a:r>
              <a:t>•  Multi-Season Dynamic Modeling: Ingest quarterly Sentinel-2 composites to map seasonal brine cycles, active harvesting, and monsoon abandonment.</a:t>
            </a:r>
          </a:p>
          <a:p>
            <a:pPr>
              <a:spcAft>
                <a:spcPts val="800"/>
              </a:spcAft>
              <a:defRPr sz="1000">
                <a:solidFill>
                  <a:srgbClr val="E2E8F0"/>
                </a:solidFill>
                <a:latin typeface="Segoe UI"/>
              </a:defRPr>
            </a:pPr>
            <a:r>
              <a:t>•  Deep Learning Architectures: Evaluate spatial-context models (U-Net, SegNet, Mask R-CNN) on sub-meter drone or PlanetScope imagery to delineate sub-pixel bunds.</a:t>
            </a:r>
          </a:p>
          <a:p>
            <a:pPr>
              <a:spcAft>
                <a:spcPts val="800"/>
              </a:spcAft>
              <a:defRPr sz="1000">
                <a:solidFill>
                  <a:srgbClr val="E2E8F0"/>
                </a:solidFill>
                <a:latin typeface="Segoe UI"/>
              </a:defRPr>
            </a:pPr>
            <a:r>
              <a:t>•  Cadastral Integration: Overlay official Tamil Nadu revenue land records to automate tax assessment and legal lease boundary monitoring.</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0D10"/>
          </a:solidFill>
          <a:ln>
            <a:solidFill>
              <a:srgbClr val="0B0D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8655" cy="1005840"/>
          </a:xfrm>
          <a:prstGeom prst="rect">
            <a:avLst/>
          </a:prstGeom>
          <a:noFill/>
        </p:spPr>
        <p:txBody>
          <a:bodyPr wrap="square" lIns="0" tIns="0" rIns="0" bIns="0">
            <a:spAutoFit/>
          </a:bodyPr>
          <a:lstStyle/>
          <a:p>
            <a:pPr>
              <a:spcAft>
                <a:spcPts val="200"/>
              </a:spcAft>
              <a:defRPr sz="950" b="1">
                <a:solidFill>
                  <a:srgbClr val="F2C94C"/>
                </a:solidFill>
                <a:latin typeface="Segoe UI"/>
              </a:defRPr>
            </a:pPr>
            <a:r>
              <a:t>SCHOLARLY REFERENCES</a:t>
            </a:r>
          </a:p>
          <a:p>
            <a:pPr>
              <a:spcAft>
                <a:spcPts val="200"/>
              </a:spcAft>
              <a:defRPr sz="2000" b="1">
                <a:solidFill>
                  <a:srgbClr val="FFFFFF"/>
                </a:solidFill>
                <a:latin typeface="Segoe UI"/>
              </a:defRPr>
            </a:pPr>
            <a:r>
              <a:t>References &amp; Academic Acknowledgments</a:t>
            </a:r>
          </a:p>
          <a:p>
            <a:pPr>
              <a:defRPr sz="1100">
                <a:solidFill>
                  <a:srgbClr val="56B4E9"/>
                </a:solidFill>
                <a:latin typeface="Segoe UI"/>
              </a:defRPr>
            </a:pPr>
            <a:r>
              <a:t>Authoritative data sources, remote sensing literature, and open discussion</a:t>
            </a:r>
          </a:p>
        </p:txBody>
      </p:sp>
      <p:sp>
        <p:nvSpPr>
          <p:cNvPr id="4" name="TextBox 3"/>
          <p:cNvSpPr txBox="1"/>
          <p:nvPr/>
        </p:nvSpPr>
        <p:spPr>
          <a:xfrm>
            <a:off x="731520" y="6446520"/>
            <a:ext cx="10728655" cy="320040"/>
          </a:xfrm>
          <a:prstGeom prst="rect">
            <a:avLst/>
          </a:prstGeom>
          <a:noFill/>
        </p:spPr>
        <p:txBody>
          <a:bodyPr wrap="square" lIns="0" tIns="0" rIns="0" bIns="0">
            <a:spAutoFit/>
          </a:bodyPr>
          <a:lstStyle/>
          <a:p>
            <a:pPr>
              <a:defRPr sz="850">
                <a:solidFill>
                  <a:srgbClr val="94A3B8"/>
                </a:solidFill>
                <a:latin typeface="Segoe UI"/>
              </a:defRPr>
            </a:pPr>
            <a:r>
              <a:t>VIT Vellore • SCORE | AI-Driven Salt Pan Mapping | Thoothukudi District                                                          Slide 25 of 25</a:t>
            </a:r>
          </a:p>
        </p:txBody>
      </p:sp>
      <p:sp>
        <p:nvSpPr>
          <p:cNvPr id="5" name="Rounded Rectangle 4"/>
          <p:cNvSpPr/>
          <p:nvPr/>
        </p:nvSpPr>
        <p:spPr>
          <a:xfrm>
            <a:off x="731520" y="1463040"/>
            <a:ext cx="6858000" cy="4754880"/>
          </a:xfrm>
          <a:prstGeom prst="roundRect">
            <a:avLst/>
          </a:prstGeom>
          <a:solidFill>
            <a:srgbClr val="14181E"/>
          </a:solidFill>
          <a:ln w="15240">
            <a:solidFill>
              <a:srgbClr val="2A34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6492240" cy="4389120"/>
          </a:xfrm>
          <a:prstGeom prst="rect">
            <a:avLst/>
          </a:prstGeom>
          <a:noFill/>
        </p:spPr>
        <p:txBody>
          <a:bodyPr wrap="square">
            <a:spAutoFit/>
          </a:bodyPr>
          <a:lstStyle/>
          <a:p>
            <a:pPr>
              <a:spcAft>
                <a:spcPts val="800"/>
              </a:spcAft>
              <a:defRPr b="1" sz="1200">
                <a:solidFill>
                  <a:srgbClr val="F2C94C"/>
                </a:solidFill>
              </a:defRPr>
            </a:pPr>
            <a:r>
              <a:t>PRIMARY REFERENCES &amp; CITATIONS</a:t>
            </a:r>
          </a:p>
          <a:p>
            <a:pPr>
              <a:spcAft>
                <a:spcPts val="400"/>
              </a:spcAft>
              <a:defRPr sz="850">
                <a:solidFill>
                  <a:srgbClr val="E2E8F0"/>
                </a:solidFill>
              </a:defRPr>
            </a:pPr>
            <a:r>
              <a:t>•  European Space Agency (ESA). (2026). Copernicus Sentinel-2 MSI Level-2A Algorithm Theoretical Basis Document (ATBD). ESA-ESRIN.</a:t>
            </a:r>
          </a:p>
          <a:p>
            <a:pPr>
              <a:spcAft>
                <a:spcPts val="400"/>
              </a:spcAft>
              <a:defRPr sz="850">
                <a:solidFill>
                  <a:srgbClr val="E2E8F0"/>
                </a:solidFill>
              </a:defRPr>
            </a:pPr>
            <a:r>
              <a:t>•  Zanaga, D., et al. (2021). ESA WorldCover 10 m 2021 v200. European Space Agency. https://doi.org/10.5281/zenodo.5571936</a:t>
            </a:r>
          </a:p>
          <a:p>
            <a:pPr>
              <a:spcAft>
                <a:spcPts val="400"/>
              </a:spcAft>
              <a:defRPr sz="850">
                <a:solidFill>
                  <a:srgbClr val="E2E8F0"/>
                </a:solidFill>
              </a:defRPr>
            </a:pPr>
            <a:r>
              <a:t>•  Breiman, L. (2001). Random Forests. Machine Learning, 45(1), 5-32. https://doi.org/10.1023/A:1010933404324</a:t>
            </a:r>
          </a:p>
          <a:p>
            <a:pPr>
              <a:spcAft>
                <a:spcPts val="400"/>
              </a:spcAft>
              <a:defRPr sz="850">
                <a:solidFill>
                  <a:srgbClr val="E2E8F0"/>
                </a:solidFill>
              </a:defRPr>
            </a:pPr>
            <a:r>
              <a:t>•  Cortes, C., &amp; Vapnik, V. (1995). Support-Vector Networks. Machine Learning, 20(3), 273-297.</a:t>
            </a:r>
          </a:p>
          <a:p>
            <a:pPr>
              <a:spcAft>
                <a:spcPts val="400"/>
              </a:spcAft>
              <a:defRPr sz="850">
                <a:solidFill>
                  <a:srgbClr val="E2E8F0"/>
                </a:solidFill>
              </a:defRPr>
            </a:pPr>
            <a:r>
              <a:t>•  Xu, H. (2006). Modification of normalised difference water index (NDWI) to enhance open water features in remotely sensed imagery. International Journal of Remote Sensing, 27(14), 3025-3033.</a:t>
            </a:r>
          </a:p>
          <a:p>
            <a:pPr>
              <a:spcAft>
                <a:spcPts val="400"/>
              </a:spcAft>
              <a:defRPr sz="850">
                <a:solidFill>
                  <a:srgbClr val="E2E8F0"/>
                </a:solidFill>
              </a:defRPr>
            </a:pPr>
            <a:r>
              <a:t>•  McFeeters, S. K. (1996). The use of the Normalized Difference Water Index (NDWI) in the delineation of open water features. International Journal of Remote Sensing, 17(7), 1425-1432.</a:t>
            </a:r>
          </a:p>
          <a:p>
            <a:pPr>
              <a:spcAft>
                <a:spcPts val="400"/>
              </a:spcAft>
              <a:defRPr sz="850">
                <a:solidFill>
                  <a:srgbClr val="E2E8F0"/>
                </a:solidFill>
              </a:defRPr>
            </a:pPr>
            <a:r>
              <a:t>•  Pedregosa, F., et al. (2011). Scikit-learn: Machine Learning in Python. Journal of Machine Learning Research, 12, 2825-2830.</a:t>
            </a:r>
          </a:p>
        </p:txBody>
      </p:sp>
      <p:sp>
        <p:nvSpPr>
          <p:cNvPr id="7" name="Rounded Rectangle 6"/>
          <p:cNvSpPr/>
          <p:nvPr/>
        </p:nvSpPr>
        <p:spPr>
          <a:xfrm>
            <a:off x="7863840" y="1463040"/>
            <a:ext cx="3566160" cy="4754880"/>
          </a:xfrm>
          <a:prstGeom prst="roundRect">
            <a:avLst/>
          </a:prstGeom>
          <a:solidFill>
            <a:srgbClr val="18202A"/>
          </a:solidFill>
          <a:ln w="15240">
            <a:solidFill>
              <a:srgbClr val="F2C9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0" y="2011680"/>
            <a:ext cx="3200400" cy="3657600"/>
          </a:xfrm>
          <a:prstGeom prst="rect">
            <a:avLst/>
          </a:prstGeom>
          <a:noFill/>
        </p:spPr>
        <p:txBody>
          <a:bodyPr wrap="square">
            <a:spAutoFit/>
          </a:bodyPr>
          <a:lstStyle/>
          <a:p>
            <a:pPr>
              <a:spcAft>
                <a:spcPts val="800"/>
              </a:spcAft>
              <a:defRPr b="1" sz="2400">
                <a:solidFill>
                  <a:srgbClr val="F2C94C"/>
                </a:solidFill>
              </a:defRPr>
            </a:pPr>
            <a:r>
              <a:t>THANK YOU</a:t>
            </a:r>
          </a:p>
          <a:p>
            <a:pPr>
              <a:spcAft>
                <a:spcPts val="1600"/>
              </a:spcAft>
              <a:defRPr b="1" sz="1300">
                <a:solidFill>
                  <a:srgbClr val="FFFFFF"/>
                </a:solidFill>
              </a:defRPr>
            </a:pPr>
            <a:r>
              <a:t>Questions &amp; Academic Discussion</a:t>
            </a:r>
          </a:p>
          <a:p>
            <a:pPr>
              <a:defRPr sz="950">
                <a:solidFill>
                  <a:srgbClr val="94A3B8"/>
                </a:solidFill>
              </a:defRPr>
            </a:pPr>
            <a:r>
              <a:t>Student: Raafid Afraaz G.</a:t>
            </a:r>
            <a:br/>
            <a:r>
              <a:t>Team Member: Farhanaaz R S</a:t>
            </a:r>
            <a:br/>
            <a:r>
              <a:t>Project Guide: Dr. Jenila Vincent</a:t>
            </a:r>
            <a:br/>
            <a:br/>
            <a:r>
              <a:t>School of Computer Science and Engineering (SCORE)</a:t>
            </a:r>
            <a:br/>
            <a:r>
              <a:t>Vellore Institute of Technology, Vellore</a:t>
            </a:r>
            <a:br/>
            <a:br/>
            <a:r>
              <a:t>GitHub Repository:</a:t>
            </a:r>
            <a:br/>
            <a:r>
              <a:t>github.com/FarhanaazRS/thoothukudi-saltpan-mapping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